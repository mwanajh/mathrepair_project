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521208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A5DFD2"/>
                </a:solidFill>
                <a:latin typeface="Aptos"/>
              </a:rPr>
              <a:t>RESEARCH PROGRESS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9966960" cy="11430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ptos"/>
              </a:rPr>
              <a:t>MathRepair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40280"/>
            <a:ext cx="9966960" cy="7315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Verifier-Guided Local Repair for
Mathematical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01568"/>
            <a:ext cx="896112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BDCBD2"/>
                </a:solidFill>
                <a:latin typeface="Aptos"/>
              </a:rPr>
              <a:t>A reproducible pilot, reasoning-graph prototype, and matched-budget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166360"/>
            <a:ext cx="43891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A5DFD2"/>
                </a:solidFill>
                <a:latin typeface="Aptos"/>
              </a:rPr>
              <a:t>SUPERVISOR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32120"/>
            <a:ext cx="5486400" cy="29260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Aptos"/>
              </a:rPr>
              <a:t>September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5504688"/>
            <a:ext cx="384048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DCBD2"/>
                </a:solidFill>
                <a:latin typeface="Aptos"/>
              </a:rPr>
              <a:t>github.com/mwanajh/MathRepair_Project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4572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87E8B"/>
                </a:solidFill>
                <a:latin typeface="Apto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" y="265176"/>
            <a:ext cx="10515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73248"/>
                </a:solidFill>
                <a:latin typeface="Aptos"/>
              </a:rPr>
              <a:t>Research Problem and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749808"/>
            <a:ext cx="10241280" cy="310896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Large language models can reach an answer through invalid intermediate reasoning.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11045952" cy="18288"/>
          </a:xfrm>
          <a:prstGeom prst="rect">
            <a:avLst/>
          </a:prstGeom>
          <a:solidFill>
            <a:srgbClr val="D9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66360" cy="4389120"/>
          </a:xfrm>
          <a:prstGeom prst="roundRect">
            <a:avLst>
              <a:gd name="adj" fmla="val 8000"/>
            </a:avLst>
          </a:prstGeom>
          <a:solidFill>
            <a:srgbClr val="F6F8F8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4572000" cy="34747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C65042"/>
                </a:solidFill>
                <a:latin typeface="Aptos"/>
              </a:rPr>
              <a:t>Observed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4526280" cy="2788920"/>
          </a:xfrm>
          <a:prstGeom prst="rect">
            <a:avLst/>
          </a:prstGeom>
          <a:noFill/>
        </p:spPr>
        <p:txBody>
          <a:bodyPr wrap="square" lIns="36576" rIns="0" tIns="18288" bIns="18288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D2935"/>
                </a:solidFill>
                <a:latin typeface="Aptos"/>
              </a:defRPr>
            </a:pPr>
            <a:r>
              <a:rPr sz="1400"/>
              <a:t>• A final answer alone does not show whether the reasoning trace is valid.</a:t>
            </a:r>
          </a:p>
          <a:p>
            <a:pPr>
              <a:spcAft>
                <a:spcPts val="400"/>
              </a:spcAft>
              <a:defRPr sz="1600">
                <a:solidFill>
                  <a:srgbClr val="1D2935"/>
                </a:solidFill>
                <a:latin typeface="Aptos"/>
              </a:defRPr>
            </a:pPr>
            <a:r>
              <a:rPr sz="1400"/>
              <a:t>• A single early error can contaminate every downstream step.</a:t>
            </a:r>
          </a:p>
          <a:p>
            <a:pPr>
              <a:spcAft>
                <a:spcPts val="400"/>
              </a:spcAft>
              <a:defRPr sz="1600">
                <a:solidFill>
                  <a:srgbClr val="1D2935"/>
                </a:solidFill>
                <a:latin typeface="Aptos"/>
              </a:defRPr>
            </a:pPr>
            <a:r>
              <a:rPr sz="1400"/>
              <a:t>• Regenerating a full solution may discard valid work and spend unnecessary compute.</a:t>
            </a:r>
          </a:p>
          <a:p>
            <a:pPr>
              <a:spcAft>
                <a:spcPts val="400"/>
              </a:spcAft>
              <a:defRPr sz="1600">
                <a:solidFill>
                  <a:srgbClr val="1D2935"/>
                </a:solidFill>
                <a:latin typeface="Aptos"/>
              </a:defRPr>
            </a:pPr>
            <a:r>
              <a:rPr sz="1400"/>
              <a:t>• Model output format can fail before mathematical quality is evaluated.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21208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537960" y="1709928"/>
            <a:ext cx="4572000" cy="34747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087E8B"/>
                </a:solidFill>
                <a:latin typeface="Aptos"/>
              </a:rPr>
              <a:t>Research objective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12848"/>
            <a:ext cx="4526280" cy="2788920"/>
          </a:xfrm>
          <a:prstGeom prst="rect">
            <a:avLst/>
          </a:prstGeom>
          <a:noFill/>
        </p:spPr>
        <p:txBody>
          <a:bodyPr wrap="square" lIns="36576" rIns="0" tIns="18288" bIns="18288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D2935"/>
                </a:solidFill>
                <a:latin typeface="Aptos"/>
              </a:defRPr>
            </a:pPr>
            <a:r>
              <a:rPr sz="1400"/>
              <a:t>• Verify each equation state with a symbolic checker.</a:t>
            </a:r>
          </a:p>
          <a:p>
            <a:pPr>
              <a:spcAft>
                <a:spcPts val="400"/>
              </a:spcAft>
              <a:defRPr sz="1600">
                <a:solidFill>
                  <a:srgbClr val="1D2935"/>
                </a:solidFill>
                <a:latin typeface="Aptos"/>
              </a:defRPr>
            </a:pPr>
            <a:r>
              <a:rPr sz="1400"/>
              <a:t>• Locate and classify the first invalid transformation.</a:t>
            </a:r>
          </a:p>
          <a:p>
            <a:pPr>
              <a:spcAft>
                <a:spcPts val="400"/>
              </a:spcAft>
              <a:defRPr sz="1600">
                <a:solidFill>
                  <a:srgbClr val="1D2935"/>
                </a:solidFill>
                <a:latin typeface="Aptos"/>
              </a:defRPr>
            </a:pPr>
            <a:r>
              <a:rPr sz="1400"/>
              <a:t>• Preserve the verified prefix and repair only the affected region.</a:t>
            </a:r>
          </a:p>
          <a:p>
            <a:pPr>
              <a:spcAft>
                <a:spcPts val="400"/>
              </a:spcAft>
              <a:defRPr sz="1600">
                <a:solidFill>
                  <a:srgbClr val="1D2935"/>
                </a:solidFill>
                <a:latin typeface="Aptos"/>
              </a:defRPr>
            </a:pPr>
            <a:r>
              <a:rPr sz="1400"/>
              <a:t>• Allocate additional compute to structurally important error nodes.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983480"/>
            <a:ext cx="4526280" cy="502920"/>
          </a:xfrm>
          <a:prstGeom prst="rect">
            <a:avLst/>
          </a:prstGeom>
          <a:noFill/>
        </p:spPr>
        <p:txBody>
          <a:bodyPr wrap="square" lIns="0" rIns="0" tIns="18288" bIns="18288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73248"/>
                </a:solidFill>
                <a:latin typeface="Aptos"/>
              </a:rPr>
              <a:t>Core claim: </a:t>
            </a:r>
            <a:r>
              <a:rPr sz="1400" b="0">
                <a:solidFill>
                  <a:srgbClr val="1D2935"/>
                </a:solidFill>
                <a:latin typeface="Aptos"/>
              </a:rPr>
              <a:t>local repair can recover reasoning more effectively under a matched budget.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493776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MathRepair | Supervisor Progress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10528"/>
            <a:ext cx="64008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4572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87E8B"/>
                </a:solidFill>
                <a:latin typeface="Apto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" y="265176"/>
            <a:ext cx="10515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73248"/>
                </a:solidFill>
                <a:latin typeface="Aptos"/>
              </a:rPr>
              <a:t>Implemented MathRepair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749808"/>
            <a:ext cx="10241280" cy="310896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The implementation connects generation, verification, localization, repair, and re-verification.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11045952" cy="18288"/>
          </a:xfrm>
          <a:prstGeom prst="rect">
            <a:avLst/>
          </a:prstGeom>
          <a:solidFill>
            <a:srgbClr val="D9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86384" y="2029967"/>
            <a:ext cx="114300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87E8B"/>
                </a:solidFill>
                <a:latin typeface="Aptos"/>
              </a:rPr>
              <a:t>1. Generate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331720"/>
            <a:ext cx="11430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06F78"/>
                </a:solidFill>
                <a:latin typeface="Aptos"/>
              </a:rPr>
              <a:t>Model returns equation steps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57400" y="2331720"/>
            <a:ext cx="429768" cy="0"/>
          </a:xfrm>
          <a:prstGeom prst="line">
            <a:avLst/>
          </a:prstGeom>
          <a:ln w="25400">
            <a:solidFill>
              <a:srgbClr val="087E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60320" y="1874519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706624" y="2029967"/>
            <a:ext cx="114300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87E8B"/>
                </a:solidFill>
                <a:latin typeface="Aptos"/>
              </a:rPr>
              <a:t>2. Construct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331720"/>
            <a:ext cx="11430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06F78"/>
                </a:solidFill>
                <a:latin typeface="Aptos"/>
              </a:rPr>
              <a:t>Build dependency graph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77639" y="2331720"/>
            <a:ext cx="429769" cy="0"/>
          </a:xfrm>
          <a:prstGeom prst="line">
            <a:avLst/>
          </a:prstGeom>
          <a:ln w="25400">
            <a:solidFill>
              <a:srgbClr val="087E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80560" y="1874519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4626864" y="2029967"/>
            <a:ext cx="114300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87E8B"/>
                </a:solidFill>
                <a:latin typeface="Aptos"/>
              </a:rPr>
              <a:t>3. 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2331720"/>
            <a:ext cx="11430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06F78"/>
                </a:solidFill>
                <a:latin typeface="Aptos"/>
              </a:rPr>
              <a:t>Check each state with SymPy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97880" y="2331720"/>
            <a:ext cx="429768" cy="0"/>
          </a:xfrm>
          <a:prstGeom prst="line">
            <a:avLst/>
          </a:prstGeom>
          <a:ln w="25400">
            <a:solidFill>
              <a:srgbClr val="087E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400800" y="1874519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547104" y="2029967"/>
            <a:ext cx="114300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65042"/>
                </a:solidFill>
                <a:latin typeface="Aptos"/>
              </a:rPr>
              <a:t>4. Localize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331720"/>
            <a:ext cx="11430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06F78"/>
                </a:solidFill>
                <a:latin typeface="Aptos"/>
              </a:rPr>
              <a:t>Find first invalid node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18120" y="2331720"/>
            <a:ext cx="429768" cy="0"/>
          </a:xfrm>
          <a:prstGeom prst="line">
            <a:avLst/>
          </a:prstGeom>
          <a:ln w="25400">
            <a:solidFill>
              <a:srgbClr val="087E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321040" y="1874519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8467344" y="2029967"/>
            <a:ext cx="114300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65042"/>
                </a:solidFill>
                <a:latin typeface="Aptos"/>
              </a:rPr>
              <a:t>5. Repair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2331720"/>
            <a:ext cx="11430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06F78"/>
                </a:solidFill>
                <a:latin typeface="Aptos"/>
              </a:rPr>
              <a:t>Replace affected local suffix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38360" y="2331720"/>
            <a:ext cx="429768" cy="0"/>
          </a:xfrm>
          <a:prstGeom prst="line">
            <a:avLst/>
          </a:prstGeom>
          <a:ln w="25400">
            <a:solidFill>
              <a:srgbClr val="087E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241280" y="1874519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10387584" y="2029967"/>
            <a:ext cx="105156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87E8B"/>
                </a:solidFill>
                <a:latin typeface="Aptos"/>
              </a:rPr>
              <a:t>6. Recheck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87584" y="2331720"/>
            <a:ext cx="105156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06F78"/>
                </a:solidFill>
                <a:latin typeface="Aptos"/>
              </a:rPr>
              <a:t>Accept only verified output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3337560"/>
            <a:ext cx="10789920" cy="2148840"/>
          </a:xfrm>
          <a:prstGeom prst="roundRect">
            <a:avLst>
              <a:gd name="adj" fmla="val 8000"/>
            </a:avLst>
          </a:prstGeom>
          <a:solidFill>
            <a:srgbClr val="F6F8F8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87552" y="3611880"/>
            <a:ext cx="23774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73248"/>
                </a:solidFill>
                <a:latin typeface="Aptos"/>
              </a:rPr>
              <a:t>Implemented modules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4041648"/>
            <a:ext cx="4572000" cy="1417320"/>
          </a:xfrm>
          <a:prstGeom prst="rect">
            <a:avLst/>
          </a:prstGeom>
          <a:noFill/>
        </p:spPr>
        <p:txBody>
          <a:bodyPr wrap="square" lIns="36576" rIns="0" tIns="18288" bIns="18288">
            <a:norm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1D2935"/>
                </a:solidFill>
                <a:latin typeface="Aptos"/>
              </a:defRPr>
            </a:pPr>
            <a:r>
              <a:rPr sz="1200"/>
              <a:t>• Symbolic equation parser and verifier</a:t>
            </a:r>
          </a:p>
          <a:p>
            <a:pPr>
              <a:spcAft>
                <a:spcPts val="300"/>
              </a:spcAft>
              <a:defRPr sz="1400">
                <a:solidFill>
                  <a:srgbClr val="1D2935"/>
                </a:solidFill>
                <a:latin typeface="Aptos"/>
              </a:defRPr>
            </a:pPr>
            <a:r>
              <a:rPr sz="1200"/>
              <a:t>• Typed repair policy</a:t>
            </a:r>
          </a:p>
          <a:p>
            <a:pPr>
              <a:spcAft>
                <a:spcPts val="300"/>
              </a:spcAft>
              <a:defRPr sz="1400">
                <a:solidFill>
                  <a:srgbClr val="1D2935"/>
                </a:solidFill>
                <a:latin typeface="Aptos"/>
              </a:defRPr>
            </a:pPr>
            <a:r>
              <a:rPr sz="1200"/>
              <a:t>• Local and global repair baselines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4041648"/>
            <a:ext cx="4572000" cy="1417320"/>
          </a:xfrm>
          <a:prstGeom prst="rect">
            <a:avLst/>
          </a:prstGeom>
          <a:noFill/>
        </p:spPr>
        <p:txBody>
          <a:bodyPr wrap="square" lIns="36576" rIns="0" tIns="18288" bIns="18288">
            <a:norm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1D2935"/>
                </a:solidFill>
                <a:latin typeface="Aptos"/>
              </a:defRPr>
            </a:pPr>
            <a:r>
              <a:rPr sz="1200"/>
              <a:t>• Matched-budget experiment harness</a:t>
            </a:r>
          </a:p>
          <a:p>
            <a:pPr>
              <a:spcAft>
                <a:spcPts val="300"/>
              </a:spcAft>
              <a:defRPr sz="1400">
                <a:solidFill>
                  <a:srgbClr val="1D2935"/>
                </a:solidFill>
                <a:latin typeface="Aptos"/>
              </a:defRPr>
            </a:pPr>
            <a:r>
              <a:rPr sz="1200"/>
              <a:t>• Reasoning graph and allocator</a:t>
            </a:r>
          </a:p>
          <a:p>
            <a:pPr>
              <a:spcAft>
                <a:spcPts val="300"/>
              </a:spcAft>
              <a:defRPr sz="1400">
                <a:solidFill>
                  <a:srgbClr val="1D2935"/>
                </a:solidFill>
                <a:latin typeface="Aptos"/>
              </a:defRPr>
            </a:pPr>
            <a:r>
              <a:rPr sz="1200"/>
              <a:t>• Web-based graphical demonstration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493776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MathRepair | Supervisor Progress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10528"/>
            <a:ext cx="64008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4572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87E8B"/>
                </a:solidFill>
                <a:latin typeface="Apto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" y="265176"/>
            <a:ext cx="10515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73248"/>
                </a:solidFill>
                <a:latin typeface="Aptos"/>
              </a:rPr>
              <a:t>Reasoning Graph Construction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749808"/>
            <a:ext cx="10241280" cy="310896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Dependencies determine which states are affected by the first error.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11045952" cy="18288"/>
          </a:xfrm>
          <a:prstGeom prst="rect">
            <a:avLst/>
          </a:prstGeom>
          <a:solidFill>
            <a:srgbClr val="D9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754880" y="1353312"/>
            <a:ext cx="2651760" cy="658368"/>
          </a:xfrm>
          <a:prstGeom prst="roundRect">
            <a:avLst>
              <a:gd name="adj" fmla="val 8000"/>
            </a:avLst>
          </a:prstGeom>
          <a:solidFill>
            <a:srgbClr val="DFF2F2"/>
          </a:solidFill>
          <a:ln w="12700">
            <a:solidFill>
              <a:srgbClr val="087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983480" y="1481328"/>
            <a:ext cx="2194560" cy="329184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73248"/>
                </a:solidFill>
                <a:latin typeface="Aptos"/>
              </a:rPr>
              <a:t>Problem: 2(x + 3) =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42316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F9E5E1"/>
          </a:solidFill>
          <a:ln w="12700">
            <a:solidFill>
              <a:srgbClr val="C6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2011680" cy="20116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65042"/>
                </a:solidFill>
                <a:latin typeface="Aptos"/>
              </a:rPr>
              <a:t>n1 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843784"/>
            <a:ext cx="2011680" cy="24688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D2935"/>
                </a:solidFill>
                <a:latin typeface="Consolas"/>
              </a:rPr>
              <a:t>2x + 3 =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79476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FFF3D9"/>
          </a:solidFill>
          <a:ln w="12700">
            <a:solidFill>
              <a:srgbClr val="B67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51560" y="3904488"/>
            <a:ext cx="2011680" cy="20116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B67A22"/>
                </a:solidFill>
                <a:latin typeface="Aptos"/>
              </a:rPr>
              <a:t>n2  AFFECTED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15384"/>
            <a:ext cx="2011680" cy="24688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D2935"/>
                </a:solidFill>
                <a:latin typeface="Consolas"/>
              </a:rPr>
              <a:t>2x =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16636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FFF3D9"/>
          </a:solidFill>
          <a:ln w="12700">
            <a:solidFill>
              <a:srgbClr val="B67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051560" y="5276088"/>
            <a:ext cx="2011680" cy="20116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B67A22"/>
                </a:solidFill>
                <a:latin typeface="Aptos"/>
              </a:rPr>
              <a:t>n3  AFFECTED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586984"/>
            <a:ext cx="2011680" cy="24688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D2935"/>
                </a:solidFill>
                <a:latin typeface="Consolas"/>
              </a:rPr>
              <a:t>x = 5.5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306324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DFF2F2"/>
          </a:solidFill>
          <a:ln w="12700">
            <a:solidFill>
              <a:srgbClr val="087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641080" y="3172968"/>
            <a:ext cx="2011680" cy="20116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87E8B"/>
                </a:solidFill>
                <a:latin typeface="Aptos"/>
              </a:rPr>
              <a:t>n4  CLEAR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3483864"/>
            <a:ext cx="2011680" cy="24688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D2935"/>
                </a:solidFill>
                <a:latin typeface="Consolas"/>
              </a:rPr>
              <a:t>14 = 2(x + 3)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4617720"/>
            <a:ext cx="2331720" cy="868680"/>
          </a:xfrm>
          <a:prstGeom prst="roundRect">
            <a:avLst>
              <a:gd name="adj" fmla="val 8000"/>
            </a:avLst>
          </a:prstGeom>
          <a:solidFill>
            <a:srgbClr val="DFF2F2"/>
          </a:solidFill>
          <a:ln w="12700">
            <a:solidFill>
              <a:srgbClr val="087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641080" y="4727448"/>
            <a:ext cx="2011680" cy="20116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87E8B"/>
                </a:solidFill>
                <a:latin typeface="Aptos"/>
              </a:rPr>
              <a:t>n5  CLEAR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5038344"/>
            <a:ext cx="2011680" cy="24688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D2935"/>
                </a:solidFill>
                <a:latin typeface="Consolas"/>
              </a:rPr>
              <a:t>x = 4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3154680" y="2011680"/>
            <a:ext cx="1828800" cy="502920"/>
          </a:xfrm>
          <a:prstGeom prst="line">
            <a:avLst/>
          </a:prstGeom>
          <a:ln w="25400">
            <a:solidFill>
              <a:srgbClr val="C650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075688" y="3291840"/>
            <a:ext cx="0" cy="502920"/>
          </a:xfrm>
          <a:prstGeom prst="line">
            <a:avLst/>
          </a:prstGeom>
          <a:ln w="25400">
            <a:solidFill>
              <a:srgbClr val="B67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075688" y="4663440"/>
            <a:ext cx="0" cy="502920"/>
          </a:xfrm>
          <a:prstGeom prst="line">
            <a:avLst/>
          </a:prstGeom>
          <a:ln w="25400">
            <a:solidFill>
              <a:srgbClr val="B67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78040" y="2011680"/>
            <a:ext cx="1463040" cy="1170432"/>
          </a:xfrm>
          <a:prstGeom prst="line">
            <a:avLst/>
          </a:prstGeom>
          <a:ln w="25400">
            <a:solidFill>
              <a:srgbClr val="087E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74352" y="3931920"/>
            <a:ext cx="0" cy="685800"/>
          </a:xfrm>
          <a:prstGeom prst="line">
            <a:avLst/>
          </a:prstGeom>
          <a:ln w="25400">
            <a:solidFill>
              <a:srgbClr val="087E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858768" y="2788920"/>
            <a:ext cx="388620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133087" y="3054096"/>
            <a:ext cx="33375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73248"/>
                </a:solidFill>
                <a:latin typeface="Aptos"/>
              </a:rPr>
              <a:t>Localized repair 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3087" y="3529584"/>
            <a:ext cx="3246120" cy="1874519"/>
          </a:xfrm>
          <a:prstGeom prst="rect">
            <a:avLst/>
          </a:prstGeom>
          <a:noFill/>
        </p:spPr>
        <p:txBody>
          <a:bodyPr wrap="square" lIns="36576" rIns="0" tIns="18288" bIns="18288">
            <a:norm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1D2935"/>
                </a:solidFill>
                <a:latin typeface="Aptos"/>
              </a:defRPr>
            </a:pPr>
            <a:r>
              <a:rPr sz="1000"/>
              <a:t>• First error: n1</a:t>
            </a:r>
          </a:p>
          <a:p>
            <a:pPr>
              <a:spcAft>
                <a:spcPts val="200"/>
              </a:spcAft>
              <a:defRPr sz="1200">
                <a:solidFill>
                  <a:srgbClr val="1D2935"/>
                </a:solidFill>
                <a:latin typeface="Aptos"/>
              </a:defRPr>
            </a:pPr>
            <a:r>
              <a:rPr sz="1000"/>
              <a:t>• Repair: 2x + 6 = 14</a:t>
            </a:r>
          </a:p>
          <a:p>
            <a:pPr>
              <a:spcAft>
                <a:spcPts val="200"/>
              </a:spcAft>
              <a:defRPr sz="1200">
                <a:solidFill>
                  <a:srgbClr val="1D2935"/>
                </a:solidFill>
                <a:latin typeface="Aptos"/>
              </a:defRPr>
            </a:pPr>
            <a:r>
              <a:rPr sz="1000"/>
              <a:t>• Action: REFORMALIZE</a:t>
            </a:r>
          </a:p>
          <a:p>
            <a:pPr>
              <a:spcAft>
                <a:spcPts val="200"/>
              </a:spcAft>
              <a:defRPr sz="1200">
                <a:solidFill>
                  <a:srgbClr val="1D2935"/>
                </a:solidFill>
                <a:latin typeface="Aptos"/>
              </a:defRPr>
            </a:pPr>
            <a:r>
              <a:rPr sz="1000"/>
              <a:t>• Budget: n1=7, n2=2, n3=1</a:t>
            </a:r>
          </a:p>
          <a:p>
            <a:pPr>
              <a:spcAft>
                <a:spcPts val="200"/>
              </a:spcAft>
              <a:defRPr sz="1200">
                <a:solidFill>
                  <a:srgbClr val="1D2935"/>
                </a:solidFill>
                <a:latin typeface="Aptos"/>
              </a:defRPr>
            </a:pPr>
            <a:r>
              <a:rPr sz="1000"/>
              <a:t>• Unaffected branch receives 0 calls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493776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MathRepair | Supervisor Progress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10528"/>
            <a:ext cx="64008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4572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87E8B"/>
                </a:solidFill>
                <a:latin typeface="Apto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" y="265176"/>
            <a:ext cx="10515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73248"/>
                </a:solidFill>
                <a:latin typeface="Aptos"/>
              </a:rP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749808"/>
            <a:ext cx="10241280" cy="310896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A controlled algebra pilot compares repair strategies under matched per-error budgets.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11045952" cy="18288"/>
          </a:xfrm>
          <a:prstGeom prst="rect">
            <a:avLst/>
          </a:prstGeom>
          <a:solidFill>
            <a:srgbClr val="D9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73152" cy="1234440"/>
          </a:xfrm>
          <a:prstGeom prst="rect">
            <a:avLst/>
          </a:prstGeom>
          <a:solidFill>
            <a:srgbClr val="17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86968" y="1581912"/>
            <a:ext cx="21671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606F78"/>
                </a:solidFill>
                <a:latin typeface="Aptos"/>
              </a:rPr>
              <a:t>PROBLEMS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892808"/>
            <a:ext cx="2167128" cy="43891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73248"/>
                </a:solidFill>
                <a:latin typeface="Aptos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40280"/>
            <a:ext cx="21671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06F78"/>
                </a:solidFill>
                <a:latin typeface="Aptos"/>
              </a:rPr>
              <a:t>one-variable algebra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41732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2" name="Rectangle 11"/>
          <p:cNvSpPr/>
          <p:nvPr/>
        </p:nvSpPr>
        <p:spPr>
          <a:xfrm>
            <a:off x="3383280" y="1417320"/>
            <a:ext cx="73152" cy="123444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3584448" y="1581912"/>
            <a:ext cx="21671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606F78"/>
                </a:solidFill>
                <a:latin typeface="Aptos"/>
              </a:rPr>
              <a:t>SEEDS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1892808"/>
            <a:ext cx="2167128" cy="43891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87E8B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240280"/>
            <a:ext cx="21671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160500, 180500, 200500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141732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7" name="Rectangle 16"/>
          <p:cNvSpPr/>
          <p:nvPr/>
        </p:nvSpPr>
        <p:spPr>
          <a:xfrm>
            <a:off x="6080760" y="1417320"/>
            <a:ext cx="73152" cy="1234440"/>
          </a:xfrm>
          <a:prstGeom prst="rect">
            <a:avLst/>
          </a:prstGeom>
          <a:solidFill>
            <a:srgbClr val="B67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281928" y="1581912"/>
            <a:ext cx="21671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606F78"/>
                </a:solidFill>
                <a:latin typeface="Aptos"/>
              </a:rPr>
              <a:t>PLANNED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1892808"/>
            <a:ext cx="2167128" cy="43891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B67A22"/>
                </a:solidFill>
                <a:latin typeface="Aptos"/>
              </a:rPr>
              <a:t>108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2240280"/>
            <a:ext cx="21671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36 problems x 3 seeds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41732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2" name="Rectangle 21"/>
          <p:cNvSpPr/>
          <p:nvPr/>
        </p:nvSpPr>
        <p:spPr>
          <a:xfrm>
            <a:off x="8778240" y="1417320"/>
            <a:ext cx="73152" cy="1234440"/>
          </a:xfrm>
          <a:prstGeom prst="rect">
            <a:avLst/>
          </a:prstGeom>
          <a:solidFill>
            <a:srgbClr val="C6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8979408" y="1581912"/>
            <a:ext cx="21671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606F78"/>
                </a:solidFill>
                <a:latin typeface="Aptos"/>
              </a:rPr>
              <a:t>PRIMARY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1892808"/>
            <a:ext cx="2167128" cy="43891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C65042"/>
                </a:solidFill>
                <a:latin typeface="Aptos"/>
              </a:rPr>
              <a:t>1.5B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240280"/>
            <a:ext cx="21671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1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qwen2-math via Ollama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063240"/>
            <a:ext cx="51663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960120" y="3355848"/>
            <a:ext cx="44805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73248"/>
                </a:solidFill>
                <a:latin typeface="Aptos"/>
              </a:rPr>
              <a:t>Compared strategies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822191"/>
            <a:ext cx="4434840" cy="1508760"/>
          </a:xfrm>
          <a:prstGeom prst="rect">
            <a:avLst/>
          </a:prstGeom>
          <a:noFill/>
        </p:spPr>
        <p:txBody>
          <a:bodyPr wrap="square" lIns="36576" rIns="0" tIns="18288" bIns="18288">
            <a:norm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1D2935"/>
                </a:solidFill>
                <a:latin typeface="Aptos"/>
              </a:defRPr>
            </a:pPr>
            <a:r>
              <a:rPr sz="1300"/>
              <a:t>• No repair</a:t>
            </a:r>
          </a:p>
          <a:p>
            <a:pPr>
              <a:spcAft>
                <a:spcPts val="300"/>
              </a:spcAft>
              <a:defRPr sz="1600">
                <a:solidFill>
                  <a:srgbClr val="1D2935"/>
                </a:solidFill>
                <a:latin typeface="Aptos"/>
              </a:defRPr>
            </a:pPr>
            <a:r>
              <a:rPr sz="1300"/>
              <a:t>• Verified global regeneration</a:t>
            </a:r>
          </a:p>
          <a:p>
            <a:pPr>
              <a:spcAft>
                <a:spcPts val="300"/>
              </a:spcAft>
              <a:defRPr sz="1600">
                <a:solidFill>
                  <a:srgbClr val="1D2935"/>
                </a:solidFill>
                <a:latin typeface="Aptos"/>
              </a:defRPr>
            </a:pPr>
            <a:r>
              <a:rPr sz="1300"/>
              <a:t>• Verified local repair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3063240"/>
            <a:ext cx="50292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537960" y="3355848"/>
            <a:ext cx="438912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73248"/>
                </a:solidFill>
                <a:latin typeface="Aptos"/>
              </a:rPr>
              <a:t>Reported measures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822191"/>
            <a:ext cx="4297680" cy="1508760"/>
          </a:xfrm>
          <a:prstGeom prst="rect">
            <a:avLst/>
          </a:prstGeom>
          <a:noFill/>
        </p:spPr>
        <p:txBody>
          <a:bodyPr wrap="square" lIns="36576" rIns="0" tIns="18288" bIns="18288">
            <a:norm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D2935"/>
                </a:solidFill>
                <a:latin typeface="Aptos"/>
              </a:defRPr>
            </a:pPr>
            <a:r>
              <a:rPr sz="1300"/>
              <a:t>• Final-answer accuracy and valid traces</a:t>
            </a:r>
          </a:p>
          <a:p>
            <a:pPr>
              <a:spcAft>
                <a:spcPts val="300"/>
              </a:spcAft>
              <a:defRPr sz="1500">
                <a:solidFill>
                  <a:srgbClr val="1D2935"/>
                </a:solidFill>
                <a:latin typeface="Aptos"/>
              </a:defRPr>
            </a:pPr>
            <a:r>
              <a:rPr sz="1300"/>
              <a:t>• Repair acceptance and regressions</a:t>
            </a:r>
          </a:p>
          <a:p>
            <a:pPr>
              <a:spcAft>
                <a:spcPts val="300"/>
              </a:spcAft>
              <a:defRPr sz="1500">
                <a:solidFill>
                  <a:srgbClr val="1D2935"/>
                </a:solidFill>
                <a:latin typeface="Aptos"/>
              </a:defRPr>
            </a:pPr>
            <a:r>
              <a:rPr sz="1300"/>
              <a:t>• Model calls, tokens, and confidence intervals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5715000"/>
            <a:ext cx="10607040" cy="38404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C65042"/>
                </a:solidFill>
                <a:latin typeface="Aptos"/>
              </a:rPr>
              <a:t>Important: this is a reproducible feasibility study, not a full benchmark evaluation.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493776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MathRepair | Supervisor Progress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10528"/>
            <a:ext cx="64008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4572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87E8B"/>
                </a:solidFill>
                <a:latin typeface="Apto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" y="265176"/>
            <a:ext cx="10515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73248"/>
                </a:solidFill>
                <a:latin typeface="Aptos"/>
              </a:rPr>
              <a:t>Primary Result: Local Repair Leads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749808"/>
            <a:ext cx="10241280" cy="310896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Expanded evaluation with qwen2-math:1.5b, 36 problems, 3 seeds, and 108 planned runs.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11045952" cy="18288"/>
          </a:xfrm>
          <a:prstGeom prst="rect">
            <a:avLst/>
          </a:prstGeom>
          <a:solidFill>
            <a:srgbClr val="D9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49808" y="1417320"/>
            <a:ext cx="50292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73248"/>
                </a:solidFill>
                <a:latin typeface="Aptos"/>
              </a:rPr>
              <a:t>Answer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20239"/>
            <a:ext cx="18288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D2935"/>
                </a:solidFill>
                <a:latin typeface="Aptos"/>
              </a:rPr>
              <a:t>No repair</a:t>
            </a:r>
          </a:p>
        </p:txBody>
      </p:sp>
      <p:sp>
        <p:nvSpPr>
          <p:cNvPr id="8" name="Rectangle 7"/>
          <p:cNvSpPr/>
          <p:nvPr/>
        </p:nvSpPr>
        <p:spPr>
          <a:xfrm>
            <a:off x="2624327" y="1947672"/>
            <a:ext cx="2880360" cy="237744"/>
          </a:xfrm>
          <a:prstGeom prst="rect">
            <a:avLst/>
          </a:prstGeom>
          <a:solidFill>
            <a:srgbClr val="E9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9" name="Rectangle 8"/>
          <p:cNvSpPr/>
          <p:nvPr/>
        </p:nvSpPr>
        <p:spPr>
          <a:xfrm>
            <a:off x="2624327" y="1947672"/>
            <a:ext cx="2612486" cy="237744"/>
          </a:xfrm>
          <a:prstGeom prst="rect">
            <a:avLst/>
          </a:prstGeom>
          <a:solidFill>
            <a:srgbClr val="60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596128" y="1883663"/>
            <a:ext cx="5943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606F78"/>
                </a:solidFill>
                <a:latin typeface="Aptos"/>
              </a:rPr>
              <a:t>90.7%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682240"/>
            <a:ext cx="18288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D2935"/>
                </a:solidFill>
                <a:latin typeface="Aptos"/>
              </a:rPr>
              <a:t>Global regeneration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24327" y="2709672"/>
            <a:ext cx="2880360" cy="237744"/>
          </a:xfrm>
          <a:prstGeom prst="rect">
            <a:avLst/>
          </a:prstGeom>
          <a:solidFill>
            <a:srgbClr val="E9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3" name="Rectangle 12"/>
          <p:cNvSpPr/>
          <p:nvPr/>
        </p:nvSpPr>
        <p:spPr>
          <a:xfrm>
            <a:off x="2624327" y="2709672"/>
            <a:ext cx="2667213" cy="237744"/>
          </a:xfrm>
          <a:prstGeom prst="rect">
            <a:avLst/>
          </a:prstGeom>
          <a:solidFill>
            <a:srgbClr val="B67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596128" y="2645664"/>
            <a:ext cx="5943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B67A22"/>
                </a:solidFill>
                <a:latin typeface="Aptos"/>
              </a:rPr>
              <a:t>92.6%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444240"/>
            <a:ext cx="18288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D2935"/>
                </a:solidFill>
                <a:latin typeface="Aptos"/>
              </a:rPr>
              <a:t>Local repair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24327" y="3471672"/>
            <a:ext cx="2880360" cy="237744"/>
          </a:xfrm>
          <a:prstGeom prst="rect">
            <a:avLst/>
          </a:prstGeom>
          <a:solidFill>
            <a:srgbClr val="E9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7" name="Rectangle 16"/>
          <p:cNvSpPr/>
          <p:nvPr/>
        </p:nvSpPr>
        <p:spPr>
          <a:xfrm>
            <a:off x="2624327" y="3471672"/>
            <a:ext cx="2880360" cy="23774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596128" y="3407664"/>
            <a:ext cx="5943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87E8B"/>
                </a:solidFill>
                <a:latin typeface="Aptos"/>
              </a:rPr>
              <a:t>100.0%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434840"/>
            <a:ext cx="50292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73248"/>
                </a:solidFill>
                <a:latin typeface="Aptos"/>
              </a:rPr>
              <a:t>Valid reasoning traces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873752"/>
            <a:ext cx="18288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D2935"/>
                </a:solidFill>
                <a:latin typeface="Aptos"/>
              </a:rPr>
              <a:t>No repair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24327" y="4901184"/>
            <a:ext cx="2880360" cy="237744"/>
          </a:xfrm>
          <a:prstGeom prst="rect">
            <a:avLst/>
          </a:prstGeom>
          <a:solidFill>
            <a:srgbClr val="E9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2" name="Rectangle 21"/>
          <p:cNvSpPr/>
          <p:nvPr/>
        </p:nvSpPr>
        <p:spPr>
          <a:xfrm>
            <a:off x="2624327" y="4901184"/>
            <a:ext cx="2534716" cy="237744"/>
          </a:xfrm>
          <a:prstGeom prst="rect">
            <a:avLst/>
          </a:prstGeom>
          <a:solidFill>
            <a:srgbClr val="60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5596128" y="4837176"/>
            <a:ext cx="5943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606F78"/>
                </a:solidFill>
                <a:latin typeface="Aptos"/>
              </a:rPr>
              <a:t>88.0%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346192"/>
            <a:ext cx="18288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D2935"/>
                </a:solidFill>
                <a:latin typeface="Aptos"/>
              </a:rPr>
              <a:t>Global regeneration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4327" y="5373624"/>
            <a:ext cx="2880360" cy="237744"/>
          </a:xfrm>
          <a:prstGeom prst="rect">
            <a:avLst/>
          </a:prstGeom>
          <a:solidFill>
            <a:srgbClr val="E9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6" name="Rectangle 25"/>
          <p:cNvSpPr/>
          <p:nvPr/>
        </p:nvSpPr>
        <p:spPr>
          <a:xfrm>
            <a:off x="2624327" y="5373624"/>
            <a:ext cx="2667213" cy="237744"/>
          </a:xfrm>
          <a:prstGeom prst="rect">
            <a:avLst/>
          </a:prstGeom>
          <a:solidFill>
            <a:srgbClr val="B67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5596128" y="5309616"/>
            <a:ext cx="5943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B67A22"/>
                </a:solidFill>
                <a:latin typeface="Aptos"/>
              </a:rPr>
              <a:t>92.6%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818632"/>
            <a:ext cx="18288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D2935"/>
                </a:solidFill>
                <a:latin typeface="Aptos"/>
              </a:rPr>
              <a:t>Local repair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24327" y="5846064"/>
            <a:ext cx="2880360" cy="237744"/>
          </a:xfrm>
          <a:prstGeom prst="rect">
            <a:avLst/>
          </a:prstGeom>
          <a:solidFill>
            <a:srgbClr val="E9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30" name="Rectangle 29"/>
          <p:cNvSpPr/>
          <p:nvPr/>
        </p:nvSpPr>
        <p:spPr>
          <a:xfrm>
            <a:off x="2624327" y="5846064"/>
            <a:ext cx="2880360" cy="23774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5596128" y="5782056"/>
            <a:ext cx="5943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87E8B"/>
                </a:solidFill>
                <a:latin typeface="Aptos"/>
              </a:rPr>
              <a:t>100.0%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20840" y="1481328"/>
            <a:ext cx="4617720" cy="4526280"/>
          </a:xfrm>
          <a:prstGeom prst="roundRect">
            <a:avLst>
              <a:gd name="adj" fmla="val 8000"/>
            </a:avLst>
          </a:prstGeom>
          <a:solidFill>
            <a:srgbClr val="F6F8F8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7059168" y="1810512"/>
            <a:ext cx="39319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06F78"/>
                </a:solidFill>
                <a:latin typeface="Aptos"/>
              </a:rPr>
              <a:t>Key statistical 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9168" y="2221992"/>
            <a:ext cx="393192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087E8B"/>
                </a:solidFill>
                <a:latin typeface="Aptos"/>
              </a:rPr>
              <a:t>+7.4 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9168" y="2907792"/>
            <a:ext cx="3931920" cy="310896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D2935"/>
                </a:solidFill>
                <a:latin typeface="Aptos"/>
              </a:rPr>
              <a:t>local minus global answer accuracy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9168" y="3493008"/>
            <a:ext cx="393192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73248"/>
                </a:solidFill>
                <a:latin typeface="Aptos"/>
              </a:rPr>
              <a:t>95% CI  [+3.4, +11.4]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4224528"/>
            <a:ext cx="3886200" cy="65836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D2935"/>
                </a:solidFill>
                <a:latin typeface="Aptos"/>
              </a:rPr>
              <a:t>13/13 detected repairs were accepted; 10 wrong answers were corrected with 0 regressions.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9168" y="5230368"/>
            <a:ext cx="3840480" cy="43891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65042"/>
                </a:solidFill>
                <a:latin typeface="Aptos"/>
              </a:rPr>
              <a:t>Defensible claim: verified local repair outperformed verified global regeneration in this controlled pilot.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510528"/>
            <a:ext cx="493776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MathRepair | Supervisor Progress 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10528"/>
            <a:ext cx="64008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4572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87E8B"/>
                </a:solidFill>
                <a:latin typeface="Apto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" y="265176"/>
            <a:ext cx="10515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73248"/>
                </a:solidFill>
                <a:latin typeface="Aptos"/>
              </a:rPr>
              <a:t>Model and Output-Contract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749808"/>
            <a:ext cx="10241280" cy="310896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A larger parameter count did not guarantee better end-to-end performance in this pipeline.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11045952" cy="18288"/>
          </a:xfrm>
          <a:prstGeom prst="rect">
            <a:avLst/>
          </a:prstGeom>
          <a:solidFill>
            <a:srgbClr val="D9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353312"/>
            <a:ext cx="5303520" cy="29260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73248"/>
                </a:solidFill>
                <a:latin typeface="Aptos"/>
              </a:rPr>
              <a:t>No-repair answer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8288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D2935"/>
                </a:solidFill>
                <a:latin typeface="Aptos"/>
              </a:rPr>
              <a:t>1.5B baseline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856231"/>
            <a:ext cx="3108960" cy="237744"/>
          </a:xfrm>
          <a:prstGeom prst="rect">
            <a:avLst/>
          </a:prstGeom>
          <a:solidFill>
            <a:srgbClr val="E9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9" name="Rectangle 8"/>
          <p:cNvSpPr/>
          <p:nvPr/>
        </p:nvSpPr>
        <p:spPr>
          <a:xfrm>
            <a:off x="2560320" y="1856231"/>
            <a:ext cx="2819826" cy="237744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760720" y="1792224"/>
            <a:ext cx="5943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87E8B"/>
                </a:solidFill>
                <a:latin typeface="Aptos"/>
              </a:rPr>
              <a:t>90.7%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18288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D2935"/>
                </a:solidFill>
                <a:latin typeface="Aptos"/>
              </a:rPr>
              <a:t>3B candidate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2542032"/>
            <a:ext cx="3108960" cy="237744"/>
          </a:xfrm>
          <a:prstGeom prst="rect">
            <a:avLst/>
          </a:prstGeom>
          <a:solidFill>
            <a:srgbClr val="E9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3" name="Rectangle 12"/>
          <p:cNvSpPr/>
          <p:nvPr/>
        </p:nvSpPr>
        <p:spPr>
          <a:xfrm>
            <a:off x="2560320" y="2542032"/>
            <a:ext cx="1467429" cy="237744"/>
          </a:xfrm>
          <a:prstGeom prst="rect">
            <a:avLst/>
          </a:prstGeom>
          <a:solidFill>
            <a:srgbClr val="B67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0" y="2478024"/>
            <a:ext cx="5943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B67A22"/>
                </a:solidFill>
                <a:latin typeface="Aptos"/>
              </a:rPr>
              <a:t>47.2%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18288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D2935"/>
                </a:solidFill>
                <a:latin typeface="Aptos"/>
              </a:rPr>
              <a:t>7B strict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3227832"/>
            <a:ext cx="3108960" cy="237744"/>
          </a:xfrm>
          <a:prstGeom prst="rect">
            <a:avLst/>
          </a:prstGeom>
          <a:solidFill>
            <a:srgbClr val="E9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7" name="Rectangle 16"/>
          <p:cNvSpPr/>
          <p:nvPr/>
        </p:nvSpPr>
        <p:spPr>
          <a:xfrm>
            <a:off x="2560320" y="3227832"/>
            <a:ext cx="404164" cy="237744"/>
          </a:xfrm>
          <a:prstGeom prst="rect">
            <a:avLst/>
          </a:prstGeom>
          <a:solidFill>
            <a:srgbClr val="C6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760720" y="3163824"/>
            <a:ext cx="5943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C65042"/>
                </a:solidFill>
                <a:latin typeface="Aptos"/>
              </a:rPr>
              <a:t>13.0%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18288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D2935"/>
                </a:solidFill>
                <a:latin typeface="Aptos"/>
              </a:rPr>
              <a:t>7B JSON profile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3913632"/>
            <a:ext cx="3108960" cy="237744"/>
          </a:xfrm>
          <a:prstGeom prst="rect">
            <a:avLst/>
          </a:prstGeom>
          <a:solidFill>
            <a:srgbClr val="E9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1" name="Rectangle 20"/>
          <p:cNvSpPr/>
          <p:nvPr/>
        </p:nvSpPr>
        <p:spPr>
          <a:xfrm>
            <a:off x="2560320" y="3913632"/>
            <a:ext cx="2331720" cy="237744"/>
          </a:xfrm>
          <a:prstGeom prst="rect">
            <a:avLst/>
          </a:prstGeom>
          <a:solidFill>
            <a:srgbClr val="17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760720" y="3849624"/>
            <a:ext cx="5943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173248"/>
                </a:solidFill>
                <a:latin typeface="Aptos"/>
              </a:rPr>
              <a:t>75.0%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1353312"/>
            <a:ext cx="470916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7040880" y="1664208"/>
            <a:ext cx="40690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73248"/>
                </a:solidFill>
                <a:latin typeface="Aptos"/>
              </a:rPr>
              <a:t>7B output-contract experiment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214884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6" name="Rectangle 25"/>
          <p:cNvSpPr/>
          <p:nvPr/>
        </p:nvSpPr>
        <p:spPr>
          <a:xfrm>
            <a:off x="7059168" y="2148840"/>
            <a:ext cx="73152" cy="1143000"/>
          </a:xfrm>
          <a:prstGeom prst="rect">
            <a:avLst/>
          </a:prstGeom>
          <a:solidFill>
            <a:srgbClr val="C6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7260336" y="2313432"/>
            <a:ext cx="14813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606F78"/>
                </a:solidFill>
                <a:latin typeface="Aptos"/>
              </a:rPr>
              <a:t>STRICT FAILURES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2624328"/>
            <a:ext cx="1481328" cy="43891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C65042"/>
                </a:solidFill>
                <a:latin typeface="Aptos"/>
              </a:rPr>
              <a:t>91/108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2880360"/>
            <a:ext cx="14813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06F78"/>
                </a:solidFill>
                <a:latin typeface="Aptos"/>
              </a:rPr>
              <a:t>primary parser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2148840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31" name="Rectangle 30"/>
          <p:cNvSpPr/>
          <p:nvPr/>
        </p:nvSpPr>
        <p:spPr>
          <a:xfrm>
            <a:off x="9098280" y="2148840"/>
            <a:ext cx="73152" cy="11430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9299448" y="2313432"/>
            <a:ext cx="14813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606F78"/>
                </a:solidFill>
                <a:latin typeface="Aptos"/>
              </a:rPr>
              <a:t>PROFILE FAILURES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9448" y="2624328"/>
            <a:ext cx="1481328" cy="43891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087E8B"/>
                </a:solidFill>
                <a:latin typeface="Aptos"/>
              </a:rPr>
              <a:t>10/108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9448" y="2880360"/>
            <a:ext cx="1481328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06F78"/>
                </a:solidFill>
                <a:latin typeface="Aptos"/>
              </a:rPr>
              <a:t>JSON profile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9168" y="3584448"/>
            <a:ext cx="3794760" cy="1874519"/>
          </a:xfrm>
          <a:prstGeom prst="rect">
            <a:avLst/>
          </a:prstGeom>
          <a:noFill/>
        </p:spPr>
        <p:txBody>
          <a:bodyPr wrap="square" lIns="36576" rIns="0" tIns="18288" bIns="18288">
            <a:norm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1D2935"/>
                </a:solidFill>
                <a:latin typeface="Aptos"/>
              </a:defRPr>
            </a:pPr>
            <a:r>
              <a:rPr sz="1100"/>
              <a:t>• JSON profile raised local-repair accuracy from 13.0% to 85.2%.</a:t>
            </a:r>
          </a:p>
          <a:p>
            <a:pPr>
              <a:spcAft>
                <a:spcPts val="300"/>
              </a:spcAft>
              <a:defRPr sz="1300">
                <a:solidFill>
                  <a:srgbClr val="1D2935"/>
                </a:solidFill>
                <a:latin typeface="Aptos"/>
              </a:defRPr>
            </a:pPr>
            <a:r>
              <a:rPr sz="1100"/>
              <a:t>• Parser-normalized accuracy reached 79.6%.</a:t>
            </a:r>
          </a:p>
          <a:p>
            <a:pPr>
              <a:spcAft>
                <a:spcPts val="300"/>
              </a:spcAft>
              <a:defRPr sz="1300">
                <a:solidFill>
                  <a:srgbClr val="1D2935"/>
                </a:solidFill>
                <a:latin typeface="Aptos"/>
              </a:defRPr>
            </a:pPr>
            <a:r>
              <a:rPr sz="1100"/>
              <a:t>• Formatting explained much of the gap, but not all of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074920"/>
            <a:ext cx="5486400" cy="7132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06F78"/>
                </a:solidFill>
                <a:latin typeface="Aptos"/>
              </a:rPr>
              <a:t>Interpretation: output compatibility is part of real end-to-end robustness, but it must be analyzed separately from mathematical reasoning quality.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493776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MathRepair | Supervisor Progress Review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510528"/>
            <a:ext cx="64008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4572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87E8B"/>
                </a:solidFill>
                <a:latin typeface="Apto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" y="265176"/>
            <a:ext cx="10515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73248"/>
                </a:solidFill>
                <a:latin typeface="Aptos"/>
              </a:rPr>
              <a:t>Completed Research and Engineering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749808"/>
            <a:ext cx="10241280" cy="310896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The repository contains an executable prototype, tests, datasets, reports, and defense materials.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11045952" cy="18288"/>
          </a:xfrm>
          <a:prstGeom prst="rect">
            <a:avLst/>
          </a:prstGeom>
          <a:solidFill>
            <a:srgbClr val="D9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6636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7" name="Oval 6"/>
          <p:cNvSpPr/>
          <p:nvPr/>
        </p:nvSpPr>
        <p:spPr>
          <a:xfrm>
            <a:off x="960120" y="1673352"/>
            <a:ext cx="384048" cy="384048"/>
          </a:xfrm>
          <a:prstGeom prst="ellipse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527048" y="1618488"/>
            <a:ext cx="406908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73248"/>
                </a:solidFill>
                <a:latin typeface="Aptos"/>
              </a:rPr>
              <a:t>Verifier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1965960"/>
            <a:ext cx="40690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Symbolic equation equivalence, identities, arithmetic and sign errors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16636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1" name="Oval 10"/>
          <p:cNvSpPr/>
          <p:nvPr/>
        </p:nvSpPr>
        <p:spPr>
          <a:xfrm>
            <a:off x="6492240" y="1673352"/>
            <a:ext cx="384048" cy="384048"/>
          </a:xfrm>
          <a:prstGeom prst="ellipse">
            <a:avLst/>
          </a:prstGeom>
          <a:solidFill>
            <a:srgbClr val="C6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059168" y="1618488"/>
            <a:ext cx="406908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73248"/>
                </a:solidFill>
                <a:latin typeface="Aptos"/>
              </a:rPr>
              <a:t>Repair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1965960"/>
            <a:ext cx="40690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Rule-based policy, local suffix regeneration, verified acceptance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62072"/>
            <a:ext cx="516636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5" name="Oval 14"/>
          <p:cNvSpPr/>
          <p:nvPr/>
        </p:nvSpPr>
        <p:spPr>
          <a:xfrm>
            <a:off x="960120" y="3118104"/>
            <a:ext cx="384048" cy="384048"/>
          </a:xfrm>
          <a:prstGeom prst="ellipse">
            <a:avLst/>
          </a:prstGeom>
          <a:solidFill>
            <a:srgbClr val="B67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527048" y="3063240"/>
            <a:ext cx="406908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73248"/>
                </a:solidFill>
                <a:latin typeface="Aptos"/>
              </a:rPr>
              <a:t>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410712"/>
            <a:ext cx="40690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Stress, held-out, expanded, matched-budget, and repeated-seed studies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62072"/>
            <a:ext cx="516636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9" name="Oval 18"/>
          <p:cNvSpPr/>
          <p:nvPr/>
        </p:nvSpPr>
        <p:spPr>
          <a:xfrm>
            <a:off x="6492240" y="3118104"/>
            <a:ext cx="384048" cy="384048"/>
          </a:xfrm>
          <a:prstGeom prst="ellipse">
            <a:avLst/>
          </a:prstGeom>
          <a:solidFill>
            <a:srgbClr val="17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7059168" y="3063240"/>
            <a:ext cx="406908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73248"/>
                </a:solidFill>
                <a:latin typeface="Aptos"/>
              </a:rPr>
              <a:t>Robustness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3410712"/>
            <a:ext cx="40690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3B/7B comparison, parser normalization, output-contract profile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06824"/>
            <a:ext cx="516636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3" name="Oval 22"/>
          <p:cNvSpPr/>
          <p:nvPr/>
        </p:nvSpPr>
        <p:spPr>
          <a:xfrm>
            <a:off x="960120" y="4562856"/>
            <a:ext cx="384048" cy="384048"/>
          </a:xfrm>
          <a:prstGeom prst="ellipse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1527048" y="4507992"/>
            <a:ext cx="406908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73248"/>
                </a:solidFill>
                <a:latin typeface="Aptos"/>
              </a:rPr>
              <a:t>Graph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7048" y="4855464"/>
            <a:ext cx="40690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Dependency graph, affected descendants, adaptive allocation, web UI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06824"/>
            <a:ext cx="516636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7" name="Oval 26"/>
          <p:cNvSpPr/>
          <p:nvPr/>
        </p:nvSpPr>
        <p:spPr>
          <a:xfrm>
            <a:off x="6492240" y="4562856"/>
            <a:ext cx="384048" cy="384048"/>
          </a:xfrm>
          <a:prstGeom prst="ellipse">
            <a:avLst/>
          </a:prstGeom>
          <a:solidFill>
            <a:srgbClr val="C6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7059168" y="4507992"/>
            <a:ext cx="406908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73248"/>
                </a:solidFill>
                <a:latin typeface="Aptos"/>
              </a:rPr>
              <a:t>Reporting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55464"/>
            <a:ext cx="40690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Thesis chapter, defense brief, Q&amp;A, audit, GitHub repository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852160"/>
            <a:ext cx="1078992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087E8B"/>
                </a:solidFill>
                <a:latin typeface="Aptos"/>
              </a:rPr>
              <a:t>Repository: https://github.com/mwanajh/MathRepair_Project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493776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MathRepair | Supervisor Progress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10528"/>
            <a:ext cx="64008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4572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87E8B"/>
                </a:solidFill>
                <a:latin typeface="Apto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" y="265176"/>
            <a:ext cx="10515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73248"/>
                </a:solidFill>
                <a:latin typeface="Aptos"/>
              </a:rPr>
              <a:t>Alignment With the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749808"/>
            <a:ext cx="10241280" cy="310896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The current milestone is a scoped pilot and proof-of-concept, not the complete proposal experiment.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11045952" cy="18288"/>
          </a:xfrm>
          <a:prstGeom prst="rect">
            <a:avLst/>
          </a:prstGeom>
          <a:solidFill>
            <a:srgbClr val="D9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13232" y="1371600"/>
            <a:ext cx="548640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32688" y="1554480"/>
            <a:ext cx="5029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87E8B"/>
                </a:solidFill>
                <a:latin typeface="Aptos"/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554480"/>
            <a:ext cx="23774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D2935"/>
                </a:solidFill>
                <a:latin typeface="Aptos"/>
              </a:rPr>
              <a:t>Graph localization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554480"/>
            <a:ext cx="16916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200" b="1">
                <a:solidFill>
                  <a:srgbClr val="087E8B"/>
                </a:solidFill>
                <a:latin typeface="Aptos"/>
              </a:rPr>
              <a:t>Prototype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450591"/>
            <a:ext cx="548640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5029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67A22"/>
                </a:solidFill>
                <a:latin typeface="Aptos"/>
              </a:rPr>
              <a:t>RQ2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33472"/>
            <a:ext cx="23774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D2935"/>
                </a:solidFill>
                <a:latin typeface="Aptos"/>
              </a:rPr>
              <a:t>Typed verifier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633472"/>
            <a:ext cx="16916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200" b="1">
                <a:solidFill>
                  <a:srgbClr val="B67A22"/>
                </a:solidFill>
                <a:latin typeface="Aptos"/>
              </a:rPr>
              <a:t>Partial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29584"/>
            <a:ext cx="548640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932688" y="3712463"/>
            <a:ext cx="5029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87E8B"/>
                </a:solidFill>
                <a:latin typeface="Aptos"/>
              </a:rPr>
              <a:t>RQ3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712463"/>
            <a:ext cx="23774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D2935"/>
                </a:solidFill>
                <a:latin typeface="Aptos"/>
              </a:rPr>
              <a:t>Targeted repair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712463"/>
            <a:ext cx="16916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200" b="1">
                <a:solidFill>
                  <a:srgbClr val="087E8B"/>
                </a:solidFill>
                <a:latin typeface="Aptos"/>
              </a:rPr>
              <a:t>Pilot complete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608576"/>
            <a:ext cx="548640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32688" y="4791456"/>
            <a:ext cx="5029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65042"/>
                </a:solidFill>
                <a:latin typeface="Aptos"/>
              </a:rPr>
              <a:t>RQ4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4791456"/>
            <a:ext cx="23774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D2935"/>
                </a:solidFill>
                <a:latin typeface="Aptos"/>
              </a:rPr>
              <a:t>Adaptive compute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4791456"/>
            <a:ext cx="16916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200" b="1">
                <a:solidFill>
                  <a:srgbClr val="C65042"/>
                </a:solidFill>
                <a:latin typeface="Aptos"/>
              </a:rPr>
              <a:t>Prototype only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65392" y="1371600"/>
            <a:ext cx="4892040" cy="4041648"/>
          </a:xfrm>
          <a:prstGeom prst="roundRect">
            <a:avLst>
              <a:gd name="adj" fmla="val 8000"/>
            </a:avLst>
          </a:prstGeom>
          <a:solidFill>
            <a:srgbClr val="F6F8F8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858000" y="1664208"/>
            <a:ext cx="42976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73248"/>
                </a:solidFill>
                <a:latin typeface="Aptos"/>
              </a:rPr>
              <a:t>Still required for full completion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121408"/>
            <a:ext cx="4114800" cy="3154680"/>
          </a:xfrm>
          <a:prstGeom prst="rect">
            <a:avLst/>
          </a:prstGeom>
          <a:noFill/>
        </p:spPr>
        <p:txBody>
          <a:bodyPr wrap="square" lIns="36576" rIns="0" tIns="18288" bIns="18288">
            <a:norm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1D2935"/>
                </a:solidFill>
                <a:latin typeface="Aptos"/>
              </a:defRPr>
            </a:pPr>
            <a:r>
              <a:rPr sz="1100"/>
              <a:t>• Proposal-aligned benchmarks such as MATH-500 and OlympiadBench</a:t>
            </a:r>
          </a:p>
          <a:p>
            <a:pPr>
              <a:spcAft>
                <a:spcPts val="300"/>
              </a:spcAft>
              <a:defRPr sz="1300">
                <a:solidFill>
                  <a:srgbClr val="1D2935"/>
                </a:solidFill>
                <a:latin typeface="Aptos"/>
              </a:defRPr>
            </a:pPr>
            <a:r>
              <a:rPr sz="1100"/>
              <a:t>• All planned baselines and systematic component ablations</a:t>
            </a:r>
          </a:p>
          <a:p>
            <a:pPr>
              <a:spcAft>
                <a:spcPts val="300"/>
              </a:spcAft>
              <a:defRPr sz="1300">
                <a:solidFill>
                  <a:srgbClr val="1D2935"/>
                </a:solidFill>
                <a:latin typeface="Aptos"/>
              </a:defRPr>
            </a:pPr>
            <a:r>
              <a:rPr sz="1100"/>
              <a:t>• Learned verifier training and calibration analysis</a:t>
            </a:r>
          </a:p>
          <a:p>
            <a:pPr>
              <a:spcAft>
                <a:spcPts val="300"/>
              </a:spcAft>
              <a:defRPr sz="1300">
                <a:solidFill>
                  <a:srgbClr val="1D2935"/>
                </a:solidFill>
                <a:latin typeface="Aptos"/>
              </a:defRPr>
            </a:pPr>
            <a:r>
              <a:rPr sz="1100"/>
              <a:t>• Integrated adaptive-compute accuracy/cost evaluation</a:t>
            </a:r>
          </a:p>
          <a:p>
            <a:pPr>
              <a:spcAft>
                <a:spcPts val="300"/>
              </a:spcAft>
              <a:defRPr sz="1300">
                <a:solidFill>
                  <a:srgbClr val="1D2935"/>
                </a:solidFill>
                <a:latin typeface="Aptos"/>
              </a:defRPr>
            </a:pPr>
            <a:r>
              <a:rPr sz="1100"/>
              <a:t>• Broader mathematical domains and independent problem samples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493776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MathRepair | Supervisor Progress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0528"/>
            <a:ext cx="64008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4572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87E8B"/>
                </a:solidFill>
                <a:latin typeface="Aptos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" y="265176"/>
            <a:ext cx="10515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73248"/>
                </a:solidFill>
                <a:latin typeface="Aptos"/>
              </a:rPr>
              <a:t>Current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749808"/>
            <a:ext cx="10241280" cy="310896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The claims are deliberately bounded to the data, models, and protocol actually evaluated.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11045952" cy="18288"/>
          </a:xfrm>
          <a:prstGeom prst="rect">
            <a:avLst/>
          </a:prstGeom>
          <a:solidFill>
            <a:srgbClr val="D9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731520" y="1389888"/>
            <a:ext cx="5166360" cy="1078992"/>
          </a:xfrm>
          <a:prstGeom prst="roundRect">
            <a:avLst>
              <a:gd name="adj" fmla="val 8000"/>
            </a:avLst>
          </a:prstGeom>
          <a:solidFill>
            <a:srgbClr val="F9E5E1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60120" y="1572768"/>
            <a:ext cx="12344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65042"/>
                </a:solidFill>
                <a:latin typeface="Aptos"/>
              </a:rP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545336"/>
            <a:ext cx="3429000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D2935"/>
                </a:solidFill>
                <a:latin typeface="Aptos"/>
              </a:rPr>
              <a:t>One-variable symbolic algebra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166360" cy="1078992"/>
          </a:xfrm>
          <a:prstGeom prst="roundRect">
            <a:avLst>
              <a:gd name="adj" fmla="val 8000"/>
            </a:avLst>
          </a:prstGeom>
          <a:solidFill>
            <a:srgbClr val="F9E5E1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92240" y="1572768"/>
            <a:ext cx="12344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65042"/>
                </a:solidFill>
                <a:latin typeface="Aptos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545336"/>
            <a:ext cx="3429000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D2935"/>
                </a:solidFill>
                <a:latin typeface="Aptos"/>
              </a:rPr>
              <a:t>Custom 36-problem expanded set; partly reuses an earlier held-out 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07208"/>
            <a:ext cx="516636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960120" y="2990088"/>
            <a:ext cx="12344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65042"/>
                </a:solidFill>
                <a:latin typeface="Aptos"/>
              </a:rPr>
              <a:t>Trials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962656"/>
            <a:ext cx="3429000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D2935"/>
                </a:solidFill>
                <a:latin typeface="Aptos"/>
              </a:rPr>
              <a:t>Three seeds in the primary expanded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807208"/>
            <a:ext cx="516636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92240" y="2990088"/>
            <a:ext cx="12344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65042"/>
                </a:solidFill>
                <a:latin typeface="Aptos"/>
              </a:rPr>
              <a:t>Verifier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962656"/>
            <a:ext cx="3429000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D2935"/>
                </a:solidFill>
                <a:latin typeface="Aptos"/>
              </a:rPr>
              <a:t>Symbolic and rule-based, not a trained calibrated verifier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24528"/>
            <a:ext cx="516636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60120" y="4407408"/>
            <a:ext cx="12344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65042"/>
                </a:solidFill>
                <a:latin typeface="Aptos"/>
              </a:rPr>
              <a:t>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79976"/>
            <a:ext cx="3429000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D2935"/>
                </a:solidFill>
                <a:latin typeface="Aptos"/>
              </a:rPr>
              <a:t>Demonstrated separately; primary model evaluation remains mainly linear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24528"/>
            <a:ext cx="5166360" cy="1078992"/>
          </a:xfrm>
          <a:prstGeom prst="roundRect">
            <a:avLst>
              <a:gd name="adj" fmla="val 8000"/>
            </a:avLst>
          </a:prstGeom>
          <a:solidFill>
            <a:srgbClr val="F9E5E1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92240" y="4407408"/>
            <a:ext cx="12344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65042"/>
                </a:solidFill>
                <a:latin typeface="Aptos"/>
              </a:rPr>
              <a:t>Generalization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379976"/>
            <a:ext cx="3429000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D2935"/>
                </a:solidFill>
                <a:latin typeface="Aptos"/>
              </a:rPr>
              <a:t>Results do not establish performance on broad math benchmarks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70448"/>
            <a:ext cx="106984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73248"/>
                </a:solidFill>
                <a:latin typeface="Aptos"/>
              </a:rPr>
              <a:t>These limitations define the next research phase; they do not invalidate the pilot result.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493776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MathRepair | Supervisor Progress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0528"/>
            <a:ext cx="64008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45720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87E8B"/>
                </a:solidFill>
                <a:latin typeface="Aptos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" y="265176"/>
            <a:ext cx="10515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73248"/>
                </a:solidFill>
                <a:latin typeface="Aptos"/>
              </a:rPr>
              <a:t>Recommended Next Research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749808"/>
            <a:ext cx="10241280" cy="310896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06F78"/>
                </a:solidFill>
                <a:latin typeface="Aptos"/>
              </a:rPr>
              <a:t>Move from a working pilot toward the complete proposal through controlled expansion.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078992"/>
            <a:ext cx="11045952" cy="18288"/>
          </a:xfrm>
          <a:prstGeom prst="rect">
            <a:avLst/>
          </a:prstGeom>
          <a:solidFill>
            <a:srgbClr val="D9E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58368" y="1600200"/>
            <a:ext cx="1993392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594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87E8B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87168"/>
            <a:ext cx="1645920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73248"/>
                </a:solidFill>
                <a:latin typeface="Aptos"/>
              </a:rPr>
              <a:t>Freeze specifications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337560"/>
            <a:ext cx="1627632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06F78"/>
                </a:solidFill>
                <a:latin typeface="Aptos"/>
              </a:rPr>
              <a:t>Graph schema, error taxonomy, allocation rule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600200"/>
            <a:ext cx="1993392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127248" y="1828800"/>
            <a:ext cx="594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87E8B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248" y="2487168"/>
            <a:ext cx="1645920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73248"/>
                </a:solidFill>
                <a:latin typeface="Aptos"/>
              </a:rPr>
              <a:t>Expand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3337560"/>
            <a:ext cx="1627632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06F78"/>
                </a:solidFill>
                <a:latin typeface="Aptos"/>
              </a:rPr>
              <a:t>Independent benchmarks and broader domains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66944" y="1600200"/>
            <a:ext cx="1993392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431536" y="1828800"/>
            <a:ext cx="594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87E8B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1536" y="2487168"/>
            <a:ext cx="1645920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73248"/>
                </a:solidFill>
                <a:latin typeface="Aptos"/>
              </a:rPr>
              <a:t>Add baselines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337560"/>
            <a:ext cx="1627632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06F78"/>
                </a:solidFill>
                <a:latin typeface="Aptos"/>
              </a:rPr>
              <a:t>Planned methods and systematic ablations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71232" y="1600200"/>
            <a:ext cx="1993392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735824" y="1828800"/>
            <a:ext cx="594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87E8B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5824" y="2487168"/>
            <a:ext cx="1645920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73248"/>
                </a:solidFill>
                <a:latin typeface="Aptos"/>
              </a:rPr>
              <a:t>Train verifier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3337560"/>
            <a:ext cx="1627632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06F78"/>
                </a:solidFill>
                <a:latin typeface="Aptos"/>
              </a:rPr>
              <a:t>Localization, classification, and calibration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0" y="1600200"/>
            <a:ext cx="1993392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10040112" y="1828800"/>
            <a:ext cx="594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087E8B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40112" y="2487168"/>
            <a:ext cx="1645920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73248"/>
                </a:solidFill>
                <a:latin typeface="Aptos"/>
              </a:rPr>
              <a:t>Integrate allocation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40112" y="3337560"/>
            <a:ext cx="1627632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06F78"/>
                </a:solidFill>
                <a:latin typeface="Aptos"/>
              </a:rPr>
              <a:t>Accuracy-compute Pareto and cost analysis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285232"/>
            <a:ext cx="8458200" cy="621792"/>
          </a:xfrm>
          <a:prstGeom prst="roundRect">
            <a:avLst>
              <a:gd name="adj" fmla="val 8000"/>
            </a:avLst>
          </a:prstGeom>
          <a:solidFill>
            <a:srgbClr val="DFF2F2"/>
          </a:solidFill>
          <a:ln w="12700">
            <a:solidFill>
              <a:srgbClr val="087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2103120" y="5468112"/>
            <a:ext cx="8001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73248"/>
                </a:solidFill>
                <a:latin typeface="Aptos"/>
              </a:rPr>
              <a:t>Immediate priority: benchmark graph-based localization against a flat reasoning-chain baseline.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493776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MathRepair | Supervisor Progress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10528"/>
            <a:ext cx="640080" cy="16459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06F78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237744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A5DFD2"/>
                </a:solidFill>
                <a:latin typeface="Apto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875520" cy="59436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Aptos"/>
              </a:rPr>
              <a:t>What has been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148840"/>
            <a:ext cx="9692640" cy="2331720"/>
          </a:xfrm>
          <a:prstGeom prst="rect">
            <a:avLst/>
          </a:prstGeom>
          <a:noFill/>
        </p:spPr>
        <p:txBody>
          <a:bodyPr wrap="square" lIns="36576" rIns="0" tIns="18288" bIns="18288">
            <a:norm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 sz="1700"/>
              <a:t>• A functioning verifier-guided local repair pipeline.</a:t>
            </a:r>
          </a:p>
          <a:p>
            <a:pPr>
              <a:spcAft>
                <a:spcPts val="5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 sz="1700"/>
              <a:t>• A reasoning-graph proof-of-concept with affected-node tracing and allocation.</a:t>
            </a:r>
          </a:p>
          <a:p>
            <a:pPr>
              <a:spcAft>
                <a:spcPts val="5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 sz="1700"/>
              <a:t>• A reproducible matched-budget pilot where local repair reached 100.0% answer accuracy.</a:t>
            </a:r>
          </a:p>
          <a:p>
            <a:pPr>
              <a:spcAft>
                <a:spcPts val="5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 sz="1700"/>
              <a:t>• A controlled analysis showing that output-contract compatibility materially affects model evaluation.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4892040"/>
            <a:ext cx="10469880" cy="777240"/>
          </a:xfrm>
          <a:prstGeom prst="roundRect">
            <a:avLst>
              <a:gd name="adj" fmla="val 8000"/>
            </a:avLst>
          </a:prstGeom>
          <a:solidFill>
            <a:srgbClr val="087E8B"/>
          </a:solidFill>
          <a:ln w="12700">
            <a:solidFill>
              <a:srgbClr val="087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>
            <a:normAutofit/>
          </a:bodyPr>
          <a:lstStyle/>
          <a:p>
            <a:pPr algn="ctr">
              <a:spcAft>
                <a:spcPts val="300"/>
              </a:spcAft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15568" y="5102352"/>
            <a:ext cx="9921240" cy="347472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The pilot supports continuing to the full proposal-scale evaluation; it does not claim that stage is already complete.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172200"/>
            <a:ext cx="457200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BDCBD2"/>
                </a:solidFill>
                <a:latin typeface="Aptos"/>
              </a:rPr>
              <a:t>Questions and supervisor 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6172200"/>
            <a:ext cx="3840480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norm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DCBD2"/>
                </a:solidFill>
                <a:latin typeface="Aptos"/>
              </a:rPr>
              <a:t>github.com/mwanajh/MathRepair_Project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