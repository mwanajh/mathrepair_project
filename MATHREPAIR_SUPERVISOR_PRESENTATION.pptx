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74A91-7374-49A8-AB4F-0F310696B92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D1F08-7D19-4D43-8843-2FA3B2BF9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9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D1F08-7D19-4D43-8843-2FA3B2BF9E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15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21208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5DFD2"/>
                </a:solidFill>
                <a:latin typeface="Aptos"/>
              </a:rPr>
              <a:t>RESEARCH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9966960" cy="11430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MathRepair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9966960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Verifier-Guided Local Repair for
Mathematical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01568"/>
            <a:ext cx="896112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BDCBD2"/>
                </a:solidFill>
                <a:latin typeface="Aptos"/>
              </a:rPr>
              <a:t>A reproducible pilot, reasoning-graph prototype, and matched-budget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43891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A5DFD2"/>
                </a:solidFill>
                <a:latin typeface="Aptos"/>
              </a:rPr>
              <a:t>SUPERVISOR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54864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504688"/>
            <a:ext cx="384048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DCBD2"/>
                </a:solidFill>
                <a:latin typeface="Aptos"/>
              </a:rPr>
              <a:t>github.com/mwanajh/MathRepair_Project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Research Problem and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606F78"/>
                </a:solidFill>
                <a:latin typeface="Aptos"/>
              </a:rPr>
              <a:t>Large language models can reach an answer through invalid intermediate reasoning.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438912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4572000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b="1" dirty="0">
                <a:solidFill>
                  <a:srgbClr val="C65042"/>
                </a:solidFill>
                <a:latin typeface="Aptos"/>
              </a:rPr>
              <a:t>Observed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526280" cy="2788920"/>
          </a:xfrm>
          <a:prstGeom prst="rect">
            <a:avLst/>
          </a:prstGeom>
          <a:noFill/>
        </p:spPr>
        <p:txBody>
          <a:bodyPr wrap="square" lIns="36576" tIns="18288" rIns="0" bIns="18288">
            <a:normAutofit fontScale="92500" lnSpcReduction="20000"/>
          </a:bodyPr>
          <a:lstStyle/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700" dirty="0"/>
              <a:t>A final answer alone does not show whether the </a:t>
            </a:r>
            <a:r>
              <a:rPr lang="en-US" sz="1700" dirty="0"/>
              <a:t>         </a:t>
            </a:r>
            <a:r>
              <a:rPr sz="1700" dirty="0"/>
              <a:t>reasoning trace is valid.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700" dirty="0"/>
              <a:t>• A single early error can contaminate every downstream step.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700" dirty="0"/>
              <a:t>• Regenerating a full solution may discard valid work and spend unnecessary compute.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700" dirty="0"/>
              <a:t>• Model output format can fail before mathematical quality is evaluated.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09928"/>
            <a:ext cx="4572000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b="1" dirty="0">
                <a:solidFill>
                  <a:srgbClr val="087E8B"/>
                </a:solidFill>
                <a:latin typeface="Aptos"/>
              </a:rPr>
              <a:t>Research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12848"/>
            <a:ext cx="4526280" cy="2788920"/>
          </a:xfrm>
          <a:prstGeom prst="rect">
            <a:avLst/>
          </a:prstGeom>
          <a:noFill/>
        </p:spPr>
        <p:txBody>
          <a:bodyPr wrap="square" lIns="36576" tIns="18288" rIns="0" bIns="18288">
            <a:normAutofit fontScale="92500"/>
          </a:bodyPr>
          <a:lstStyle/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600" dirty="0"/>
              <a:t>Verify each equation state with a symbolic checker.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Locate and classify the first invalid transformation.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Preserve the verified prefix and repair only the affected region.</a:t>
            </a:r>
          </a:p>
          <a:p>
            <a:pPr algn="just"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Allocate additional compute to structurally important error nodes.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983480"/>
            <a:ext cx="4526280" cy="5029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just">
              <a:lnSpc>
                <a:spcPct val="150000"/>
              </a:lnSpc>
              <a:spcAft>
                <a:spcPts val="300"/>
              </a:spcAft>
            </a:pPr>
            <a:r>
              <a:rPr sz="1600" b="1" dirty="0">
                <a:solidFill>
                  <a:srgbClr val="173248"/>
                </a:solidFill>
                <a:latin typeface="Aptos"/>
              </a:rPr>
              <a:t>Core claim: </a:t>
            </a:r>
            <a:r>
              <a:rPr sz="1600" b="0" dirty="0">
                <a:solidFill>
                  <a:srgbClr val="1D2935"/>
                </a:solidFill>
                <a:latin typeface="Aptos"/>
              </a:rPr>
              <a:t>local repair can recover reasoning more effectively under a matched budget.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dirty="0" err="1">
                <a:solidFill>
                  <a:srgbClr val="606F78"/>
                </a:solidFill>
                <a:latin typeface="Aptos"/>
              </a:rPr>
              <a:t>MathRepair</a:t>
            </a:r>
            <a:r>
              <a:rPr sz="1200" b="0" dirty="0">
                <a:solidFill>
                  <a:srgbClr val="606F78"/>
                </a:solidFill>
                <a:latin typeface="Aptos"/>
              </a:rPr>
              <a:t> | Supervisor Progress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0919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Implemented MathRepair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606F78"/>
                </a:solidFill>
                <a:latin typeface="Aptos"/>
              </a:rPr>
              <a:t>The implementation connects generation, verification, localization, repair, and re-verification.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2029967"/>
            <a:ext cx="11430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087E8B"/>
                </a:solidFill>
                <a:latin typeface="Aptos"/>
              </a:rPr>
              <a:t>1.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31720"/>
            <a:ext cx="1143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dirty="0">
                <a:solidFill>
                  <a:srgbClr val="606F78"/>
                </a:solidFill>
                <a:latin typeface="Aptos"/>
              </a:rPr>
              <a:t>Model returns equation steps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331720"/>
            <a:ext cx="429768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0320" y="1874519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06624" y="2029967"/>
            <a:ext cx="11430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87E8B"/>
                </a:solidFill>
                <a:latin typeface="Aptos"/>
              </a:rPr>
              <a:t>2. Construct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331720"/>
            <a:ext cx="1143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dirty="0">
                <a:solidFill>
                  <a:srgbClr val="606F78"/>
                </a:solidFill>
                <a:latin typeface="Aptos"/>
              </a:rPr>
              <a:t>Build dependency graph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331720"/>
            <a:ext cx="429769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80560" y="1874519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6864" y="2029967"/>
            <a:ext cx="11430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87E8B"/>
                </a:solidFill>
                <a:latin typeface="Aptos"/>
              </a:rPr>
              <a:t>3.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331720"/>
            <a:ext cx="1143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06F78"/>
                </a:solidFill>
                <a:latin typeface="Aptos"/>
              </a:rPr>
              <a:t>Check each state with SymPy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2331720"/>
            <a:ext cx="429768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1874519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7"/>
            <a:ext cx="11430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65042"/>
                </a:solidFill>
                <a:latin typeface="Aptos"/>
              </a:rPr>
              <a:t>4. Localize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331720"/>
            <a:ext cx="1143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06F78"/>
                </a:solidFill>
                <a:latin typeface="Aptos"/>
              </a:rPr>
              <a:t>Find first invalid node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18120" y="2331720"/>
            <a:ext cx="429768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21040" y="1874519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2029967"/>
            <a:ext cx="11430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65042"/>
                </a:solidFill>
                <a:latin typeface="Aptos"/>
              </a:rPr>
              <a:t>5. Repair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331720"/>
            <a:ext cx="1143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06F78"/>
                </a:solidFill>
                <a:latin typeface="Aptos"/>
              </a:rPr>
              <a:t>Replace affected local suffix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38360" y="2331720"/>
            <a:ext cx="429768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41280" y="1874519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87584" y="2029967"/>
            <a:ext cx="10515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87E8B"/>
                </a:solidFill>
                <a:latin typeface="Aptos"/>
              </a:rPr>
              <a:t>6. Recheck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7584" y="2331720"/>
            <a:ext cx="105156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06F78"/>
                </a:solidFill>
                <a:latin typeface="Aptos"/>
              </a:rPr>
              <a:t>Accept only verified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337560"/>
            <a:ext cx="10789920" cy="214884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3611880"/>
            <a:ext cx="237744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173248"/>
                </a:solidFill>
                <a:latin typeface="Aptos"/>
              </a:rPr>
              <a:t>Implemented 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041648"/>
            <a:ext cx="4572000" cy="1417320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 algn="just">
              <a:lnSpc>
                <a:spcPct val="150000"/>
              </a:lnSpc>
              <a:spcAft>
                <a:spcPts val="300"/>
              </a:spcAft>
              <a:defRPr sz="1400">
                <a:solidFill>
                  <a:srgbClr val="1D2935"/>
                </a:solidFill>
                <a:latin typeface="Aptos"/>
              </a:defRPr>
            </a:pPr>
            <a:r>
              <a:rPr sz="1200" dirty="0"/>
              <a:t>• </a:t>
            </a:r>
            <a:r>
              <a:rPr sz="1600" dirty="0"/>
              <a:t>Symbolic equation parser and verifier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defRPr sz="14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Typed repair policy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defRPr sz="14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Local and global repair baselines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041648"/>
            <a:ext cx="4572000" cy="1417320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 algn="just">
              <a:lnSpc>
                <a:spcPct val="150000"/>
              </a:lnSpc>
              <a:spcAft>
                <a:spcPts val="300"/>
              </a:spcAft>
              <a:defRPr sz="1400">
                <a:solidFill>
                  <a:srgbClr val="1D2935"/>
                </a:solidFill>
                <a:latin typeface="Aptos"/>
              </a:defRPr>
            </a:pPr>
            <a:r>
              <a:rPr sz="1200" dirty="0"/>
              <a:t>• </a:t>
            </a:r>
            <a:r>
              <a:rPr sz="1600" dirty="0"/>
              <a:t>Matched-budget experiment harness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defRPr sz="14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Reasoning graph and allocator</a:t>
            </a:r>
          </a:p>
          <a:p>
            <a:pPr algn="just">
              <a:lnSpc>
                <a:spcPct val="150000"/>
              </a:lnSpc>
              <a:spcAft>
                <a:spcPts val="300"/>
              </a:spcAft>
              <a:defRPr sz="1400">
                <a:solidFill>
                  <a:srgbClr val="1D2935"/>
                </a:solidFill>
                <a:latin typeface="Aptos"/>
              </a:defRPr>
            </a:pPr>
            <a:r>
              <a:rPr sz="1600" dirty="0"/>
              <a:t>• Web-based graphical demonstration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dirty="0" err="1">
                <a:solidFill>
                  <a:srgbClr val="606F78"/>
                </a:solidFill>
                <a:latin typeface="Aptos"/>
              </a:rPr>
              <a:t>MathRepair</a:t>
            </a:r>
            <a:r>
              <a:rPr sz="1200" b="0" dirty="0">
                <a:solidFill>
                  <a:srgbClr val="606F78"/>
                </a:solidFill>
                <a:latin typeface="Aptos"/>
              </a:rPr>
              <a:t> | Supervisor Progress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Reasoning Graph Construction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606F78"/>
                </a:solidFill>
                <a:latin typeface="Aptos"/>
              </a:rPr>
              <a:t>Dependencies determine which states are affected by the first 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4880" y="1353312"/>
            <a:ext cx="2651760" cy="658368"/>
          </a:xfrm>
          <a:prstGeom prst="roundRect">
            <a:avLst>
              <a:gd name="adj" fmla="val 8000"/>
            </a:avLst>
          </a:prstGeom>
          <a:solidFill>
            <a:srgbClr val="DFF2F2"/>
          </a:solidFill>
          <a:ln w="1270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83480" y="1481328"/>
            <a:ext cx="2194560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73248"/>
                </a:solidFill>
                <a:latin typeface="Aptos"/>
              </a:rPr>
              <a:t>Problem: 2(x + 3) =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9E5E1"/>
          </a:solidFill>
          <a:ln w="12700">
            <a:solidFill>
              <a:srgbClr val="C6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532888"/>
            <a:ext cx="201168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65042"/>
                </a:solidFill>
                <a:latin typeface="Aptos"/>
              </a:rPr>
              <a:t>n1 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43784"/>
            <a:ext cx="2011680" cy="24688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2935"/>
                </a:solidFill>
                <a:latin typeface="Consolas"/>
              </a:rPr>
              <a:t>2x + 3 =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9476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3D9"/>
          </a:solidFill>
          <a:ln w="12700">
            <a:solidFill>
              <a:srgbClr val="B6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904488"/>
            <a:ext cx="201168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B67A22"/>
                </a:solidFill>
                <a:latin typeface="Aptos"/>
              </a:rPr>
              <a:t>n2  AFFECTED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15384"/>
            <a:ext cx="2011680" cy="24688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2935"/>
                </a:solidFill>
                <a:latin typeface="Consolas"/>
              </a:rPr>
              <a:t>2x =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6636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3D9"/>
          </a:solidFill>
          <a:ln w="12700">
            <a:solidFill>
              <a:srgbClr val="B6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76088"/>
            <a:ext cx="201168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B67A22"/>
                </a:solidFill>
                <a:latin typeface="Aptos"/>
              </a:rPr>
              <a:t>n3  AFFECTED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86984"/>
            <a:ext cx="2011680" cy="24688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2935"/>
                </a:solidFill>
                <a:latin typeface="Consolas"/>
              </a:rPr>
              <a:t>x = 5.5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0632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DFF2F2"/>
          </a:solidFill>
          <a:ln w="1270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3172968"/>
            <a:ext cx="201168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087E8B"/>
                </a:solidFill>
                <a:latin typeface="Aptos"/>
              </a:rPr>
              <a:t>n4  CLEAR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483864"/>
            <a:ext cx="2011680" cy="24688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2935"/>
                </a:solidFill>
                <a:latin typeface="Consolas"/>
              </a:rPr>
              <a:t>14 = 2(x + 3)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6177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DFF2F2"/>
          </a:solidFill>
          <a:ln w="1270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4727448"/>
            <a:ext cx="201168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087E8B"/>
                </a:solidFill>
                <a:latin typeface="Aptos"/>
              </a:rPr>
              <a:t>n5  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038344"/>
            <a:ext cx="2011680" cy="24688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2935"/>
                </a:solidFill>
                <a:latin typeface="Consolas"/>
              </a:rPr>
              <a:t>x = 4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154680" y="2011680"/>
            <a:ext cx="1828800" cy="502920"/>
          </a:xfrm>
          <a:prstGeom prst="line">
            <a:avLst/>
          </a:prstGeom>
          <a:ln w="25400">
            <a:solidFill>
              <a:srgbClr val="C6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75688" y="3291840"/>
            <a:ext cx="0" cy="502920"/>
          </a:xfrm>
          <a:prstGeom prst="line">
            <a:avLst/>
          </a:prstGeom>
          <a:ln w="25400">
            <a:solidFill>
              <a:srgbClr val="B67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75688" y="4663440"/>
            <a:ext cx="0" cy="502920"/>
          </a:xfrm>
          <a:prstGeom prst="line">
            <a:avLst/>
          </a:prstGeom>
          <a:ln w="25400">
            <a:solidFill>
              <a:srgbClr val="B67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78040" y="2011680"/>
            <a:ext cx="1463040" cy="1170432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74352" y="3931920"/>
            <a:ext cx="0" cy="68580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858768" y="2788920"/>
            <a:ext cx="38862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33087" y="3054096"/>
            <a:ext cx="33375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Localized repair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3529584"/>
            <a:ext cx="3246120" cy="1874519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 algn="just">
              <a:lnSpc>
                <a:spcPct val="150000"/>
              </a:lnSpc>
              <a:spcAft>
                <a:spcPts val="200"/>
              </a:spcAft>
              <a:defRPr sz="1200">
                <a:solidFill>
                  <a:srgbClr val="1D2935"/>
                </a:solidFill>
                <a:latin typeface="Aptos"/>
              </a:defRPr>
            </a:pPr>
            <a:r>
              <a:rPr sz="1400" dirty="0"/>
              <a:t>• First error: n1</a:t>
            </a:r>
          </a:p>
          <a:p>
            <a:pPr algn="just">
              <a:lnSpc>
                <a:spcPct val="150000"/>
              </a:lnSpc>
              <a:spcAft>
                <a:spcPts val="200"/>
              </a:spcAft>
              <a:defRPr sz="1200">
                <a:solidFill>
                  <a:srgbClr val="1D2935"/>
                </a:solidFill>
                <a:latin typeface="Aptos"/>
              </a:defRPr>
            </a:pPr>
            <a:r>
              <a:rPr sz="1400" dirty="0"/>
              <a:t>• Repair: 2x + 6 = 14</a:t>
            </a:r>
          </a:p>
          <a:p>
            <a:pPr algn="just">
              <a:lnSpc>
                <a:spcPct val="150000"/>
              </a:lnSpc>
              <a:spcAft>
                <a:spcPts val="200"/>
              </a:spcAft>
              <a:defRPr sz="1200">
                <a:solidFill>
                  <a:srgbClr val="1D2935"/>
                </a:solidFill>
                <a:latin typeface="Aptos"/>
              </a:defRPr>
            </a:pPr>
            <a:r>
              <a:rPr sz="1400" dirty="0"/>
              <a:t>• Action: REFORMALIZE</a:t>
            </a:r>
          </a:p>
          <a:p>
            <a:pPr algn="just">
              <a:lnSpc>
                <a:spcPct val="150000"/>
              </a:lnSpc>
              <a:spcAft>
                <a:spcPts val="200"/>
              </a:spcAft>
              <a:defRPr sz="1200">
                <a:solidFill>
                  <a:srgbClr val="1D2935"/>
                </a:solidFill>
                <a:latin typeface="Aptos"/>
              </a:defRPr>
            </a:pPr>
            <a:r>
              <a:rPr sz="1400" dirty="0"/>
              <a:t>• Budget: n1=7, n2=2, n3=1</a:t>
            </a:r>
          </a:p>
          <a:p>
            <a:pPr algn="just">
              <a:lnSpc>
                <a:spcPct val="150000"/>
              </a:lnSpc>
              <a:spcAft>
                <a:spcPts val="200"/>
              </a:spcAft>
              <a:defRPr sz="1200">
                <a:solidFill>
                  <a:srgbClr val="1D2935"/>
                </a:solidFill>
                <a:latin typeface="Aptos"/>
              </a:defRPr>
            </a:pPr>
            <a:r>
              <a:rPr sz="1400" dirty="0"/>
              <a:t>• Unaffected branch receives 0 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dirty="0" err="1">
                <a:solidFill>
                  <a:srgbClr val="606F78"/>
                </a:solidFill>
                <a:latin typeface="Aptos"/>
              </a:rPr>
              <a:t>MathRepair</a:t>
            </a:r>
            <a:r>
              <a:rPr sz="1200" b="0" dirty="0">
                <a:solidFill>
                  <a:srgbClr val="606F78"/>
                </a:solidFill>
                <a:latin typeface="Aptos"/>
              </a:rPr>
              <a:t> | Supervisor Progress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A controlled algebra pilot compares repair strategies under matched per-error budgets.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17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06F78"/>
                </a:solidFill>
                <a:latin typeface="Aptos"/>
              </a:rPr>
              <a:t>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8"/>
            <a:ext cx="2167128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40280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06F78"/>
                </a:solidFill>
                <a:latin typeface="Aptos"/>
              </a:rPr>
              <a:t>one-variable algebra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417320"/>
            <a:ext cx="73152" cy="1234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4448" y="1581912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06F78"/>
                </a:solidFill>
                <a:latin typeface="Aptos"/>
              </a:rPr>
              <a:t>SEEDS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1892808"/>
            <a:ext cx="2167128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87E8B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240280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160500, 180500, 200500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173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417320"/>
            <a:ext cx="73152" cy="1234440"/>
          </a:xfrm>
          <a:prstGeom prst="rect">
            <a:avLst/>
          </a:prstGeom>
          <a:solidFill>
            <a:srgbClr val="B6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581912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06F78"/>
                </a:solidFill>
                <a:latin typeface="Aptos"/>
              </a:rPr>
              <a:t>PLANNED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892808"/>
            <a:ext cx="2167128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B67A22"/>
                </a:solidFill>
                <a:latin typeface="Aptos"/>
              </a:rPr>
              <a:t>108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240280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36 problems x 3 seeds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4173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1417320"/>
            <a:ext cx="73152" cy="1234440"/>
          </a:xfrm>
          <a:prstGeom prst="rect">
            <a:avLst/>
          </a:prstGeom>
          <a:solidFill>
            <a:srgbClr val="C6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79408" y="1581912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606F78"/>
                </a:solidFill>
                <a:latin typeface="Aptos"/>
              </a:rPr>
              <a:t>PRIMARY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1892808"/>
            <a:ext cx="2167128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C65042"/>
                </a:solidFill>
                <a:latin typeface="Aptos"/>
              </a:rPr>
              <a:t>1.5B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2240280"/>
            <a:ext cx="21671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qwen2-math via Ollama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063240"/>
            <a:ext cx="51663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3355848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Compared strategies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2191"/>
            <a:ext cx="4434840" cy="1508760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300"/>
              <a:t>• No repair</a:t>
            </a:r>
          </a:p>
          <a:p>
            <a:pPr>
              <a:spcAft>
                <a:spcPts val="3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300"/>
              <a:t>• Verified global regeneration</a:t>
            </a:r>
          </a:p>
          <a:p>
            <a:pPr>
              <a:spcAft>
                <a:spcPts val="300"/>
              </a:spcAft>
              <a:defRPr sz="1600">
                <a:solidFill>
                  <a:srgbClr val="1D2935"/>
                </a:solidFill>
                <a:latin typeface="Aptos"/>
              </a:defRPr>
            </a:pPr>
            <a:r>
              <a:rPr sz="1300"/>
              <a:t>• Verified local repair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06324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355848"/>
            <a:ext cx="43891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Reported measures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822191"/>
            <a:ext cx="4297680" cy="1508760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D2935"/>
                </a:solidFill>
                <a:latin typeface="Aptos"/>
              </a:defRPr>
            </a:pPr>
            <a:r>
              <a:rPr sz="1300"/>
              <a:t>• Final-answer accuracy and valid traces</a:t>
            </a:r>
          </a:p>
          <a:p>
            <a:pPr>
              <a:spcAft>
                <a:spcPts val="300"/>
              </a:spcAft>
              <a:defRPr sz="1500">
                <a:solidFill>
                  <a:srgbClr val="1D2935"/>
                </a:solidFill>
                <a:latin typeface="Aptos"/>
              </a:defRPr>
            </a:pPr>
            <a:r>
              <a:rPr sz="1300"/>
              <a:t>• Repair acceptance and regressions</a:t>
            </a:r>
          </a:p>
          <a:p>
            <a:pPr>
              <a:spcAft>
                <a:spcPts val="300"/>
              </a:spcAft>
              <a:defRPr sz="1500">
                <a:solidFill>
                  <a:srgbClr val="1D2935"/>
                </a:solidFill>
                <a:latin typeface="Aptos"/>
              </a:defRPr>
            </a:pPr>
            <a:r>
              <a:rPr sz="1300"/>
              <a:t>• Model calls, tokens, and confidence intervals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715000"/>
            <a:ext cx="10607040" cy="38404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65042"/>
                </a:solidFill>
                <a:latin typeface="Aptos"/>
              </a:rPr>
              <a:t>Important: this is a reproducible feasibility study, not a full benchmark evaluation.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MathRepair | Supervisor Progress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Primary Result: Local Repair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Expanded evaluation with qwen2-math:1.5b, 36 problems, 3 seeds, and 108 planned runs.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0292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73248"/>
                </a:solidFill>
                <a:latin typeface="Aptos"/>
              </a:rPr>
              <a:t>Answer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20239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No repair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4327" y="1947672"/>
            <a:ext cx="28803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24327" y="1947672"/>
            <a:ext cx="2612486" cy="237744"/>
          </a:xfrm>
          <a:prstGeom prst="rect">
            <a:avLst/>
          </a:prstGeom>
          <a:solidFill>
            <a:srgbClr val="6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96128" y="1883663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606F78"/>
                </a:solidFill>
                <a:latin typeface="Aptos"/>
              </a:rPr>
              <a:t>90.7%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82240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Global regeneration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7" y="2709672"/>
            <a:ext cx="28803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24327" y="2709672"/>
            <a:ext cx="2667213" cy="237744"/>
          </a:xfrm>
          <a:prstGeom prst="rect">
            <a:avLst/>
          </a:prstGeom>
          <a:solidFill>
            <a:srgbClr val="B6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96128" y="2645664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67A22"/>
                </a:solidFill>
                <a:latin typeface="Aptos"/>
              </a:rPr>
              <a:t>92.6%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444240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Local repair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4327" y="3471672"/>
            <a:ext cx="28803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24327" y="3471672"/>
            <a:ext cx="2880360" cy="23774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96128" y="3407664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087E8B"/>
                </a:solidFill>
                <a:latin typeface="Aptos"/>
              </a:rPr>
              <a:t>100.0%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434840"/>
            <a:ext cx="50292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73248"/>
                </a:solidFill>
                <a:latin typeface="Aptos"/>
              </a:rPr>
              <a:t>Valid reasoning traces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873752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No repair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327" y="4901184"/>
            <a:ext cx="28803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24327" y="4901184"/>
            <a:ext cx="2534716" cy="237744"/>
          </a:xfrm>
          <a:prstGeom prst="rect">
            <a:avLst/>
          </a:prstGeom>
          <a:solidFill>
            <a:srgbClr val="60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96128" y="4837176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606F78"/>
                </a:solidFill>
                <a:latin typeface="Aptos"/>
              </a:rPr>
              <a:t>88.0%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346192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Global regeneration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4327" y="5373624"/>
            <a:ext cx="28803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24327" y="5373624"/>
            <a:ext cx="2667213" cy="237744"/>
          </a:xfrm>
          <a:prstGeom prst="rect">
            <a:avLst/>
          </a:prstGeom>
          <a:solidFill>
            <a:srgbClr val="B6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96128" y="5309616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67A22"/>
                </a:solidFill>
                <a:latin typeface="Aptos"/>
              </a:rPr>
              <a:t>92.6%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818632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Local repair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4327" y="5846064"/>
            <a:ext cx="28803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24327" y="5846064"/>
            <a:ext cx="2880360" cy="23774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96128" y="5782056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087E8B"/>
                </a:solidFill>
                <a:latin typeface="Aptos"/>
              </a:rPr>
              <a:t>100.0%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1481328"/>
            <a:ext cx="4617720" cy="4526280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9168" y="1810512"/>
            <a:ext cx="39319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06F78"/>
                </a:solidFill>
                <a:latin typeface="Aptos"/>
              </a:rPr>
              <a:t>Key statistical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2221992"/>
            <a:ext cx="393192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087E8B"/>
                </a:solidFill>
                <a:latin typeface="Aptos"/>
              </a:rPr>
              <a:t>+7.4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2907792"/>
            <a:ext cx="393192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D2935"/>
                </a:solidFill>
                <a:latin typeface="Aptos"/>
              </a:rPr>
              <a:t>local minus global answer 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3493008"/>
            <a:ext cx="393192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73248"/>
                </a:solidFill>
                <a:latin typeface="Aptos"/>
              </a:rPr>
              <a:t>95% CI  [+3.4, +11.4]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224528"/>
            <a:ext cx="3886200" cy="65836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D2935"/>
                </a:solidFill>
                <a:latin typeface="Aptos"/>
              </a:rPr>
              <a:t>13/13 detected repairs were accepted; 10 wrong answers were corrected with 0 regressions.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5230368"/>
            <a:ext cx="3840480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65042"/>
                </a:solidFill>
                <a:latin typeface="Aptos"/>
              </a:rPr>
              <a:t>Defensible claim: verified local repair outperformed verified global regeneration in this controlled pilot.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MathRepair | Supervisor Progress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Model and Output-Contract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A larger parameter count did not guarantee better end-to-end performance in this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530352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73248"/>
                </a:solidFill>
                <a:latin typeface="Aptos"/>
              </a:rPr>
              <a:t>No-repair answer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1.5B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856231"/>
            <a:ext cx="31089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1856231"/>
            <a:ext cx="2819826" cy="23774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1792224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087E8B"/>
                </a:solidFill>
                <a:latin typeface="Aptos"/>
              </a:rPr>
              <a:t>90.7%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3B candidate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542032"/>
            <a:ext cx="31089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60320" y="2542032"/>
            <a:ext cx="1467429" cy="237744"/>
          </a:xfrm>
          <a:prstGeom prst="rect">
            <a:avLst/>
          </a:prstGeom>
          <a:solidFill>
            <a:srgbClr val="B6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2478024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B67A22"/>
                </a:solidFill>
                <a:latin typeface="Aptos"/>
              </a:rPr>
              <a:t>47.2%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7B strict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227832"/>
            <a:ext cx="31089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0" y="3227832"/>
            <a:ext cx="404164" cy="237744"/>
          </a:xfrm>
          <a:prstGeom prst="rect">
            <a:avLst/>
          </a:prstGeom>
          <a:solidFill>
            <a:srgbClr val="C6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3163824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C65042"/>
                </a:solidFill>
                <a:latin typeface="Aptos"/>
              </a:rPr>
              <a:t>13.0%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18288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2935"/>
                </a:solidFill>
                <a:latin typeface="Aptos"/>
              </a:rPr>
              <a:t>7B JSON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913632"/>
            <a:ext cx="3108960" cy="237744"/>
          </a:xfrm>
          <a:prstGeom prst="rect">
            <a:avLst/>
          </a:prstGeom>
          <a:solidFill>
            <a:srgbClr val="E9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0" y="3913632"/>
            <a:ext cx="2331720" cy="237744"/>
          </a:xfrm>
          <a:prstGeom prst="rect">
            <a:avLst/>
          </a:prstGeom>
          <a:solidFill>
            <a:srgbClr val="17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3849624"/>
            <a:ext cx="5943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173248"/>
                </a:solidFill>
                <a:latin typeface="Aptos"/>
              </a:rPr>
              <a:t>75.0%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1353312"/>
            <a:ext cx="470916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1664208"/>
            <a:ext cx="40690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7B output-contract experiment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214884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59168" y="2148840"/>
            <a:ext cx="73152" cy="1143000"/>
          </a:xfrm>
          <a:prstGeom prst="rect">
            <a:avLst/>
          </a:prstGeom>
          <a:solidFill>
            <a:srgbClr val="C6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0336" y="2313432"/>
            <a:ext cx="14813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606F78"/>
                </a:solidFill>
                <a:latin typeface="Aptos"/>
              </a:rPr>
              <a:t>STRICT FAILURES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2624328"/>
            <a:ext cx="1481328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C65042"/>
                </a:solidFill>
                <a:latin typeface="Aptos"/>
              </a:rPr>
              <a:t>91/108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2880360"/>
            <a:ext cx="14813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06F78"/>
                </a:solidFill>
                <a:latin typeface="Aptos"/>
              </a:rPr>
              <a:t>primary parser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14884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98280" y="2148840"/>
            <a:ext cx="73152" cy="1143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99448" y="2313432"/>
            <a:ext cx="14813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606F78"/>
                </a:solidFill>
                <a:latin typeface="Aptos"/>
              </a:rPr>
              <a:t>PROFILE FAILURES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2624328"/>
            <a:ext cx="1481328" cy="43891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087E8B"/>
                </a:solidFill>
                <a:latin typeface="Aptos"/>
              </a:rPr>
              <a:t>10/108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880360"/>
            <a:ext cx="1481328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06F78"/>
                </a:solidFill>
                <a:latin typeface="Aptos"/>
              </a:rPr>
              <a:t>JSON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584448"/>
            <a:ext cx="3794760" cy="1874519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JSON profile raised local-repair accuracy from 13.0% to 85.2%.</a:t>
            </a:r>
          </a:p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Parser-normalized accuracy reached 79.6%.</a:t>
            </a:r>
          </a:p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Formatting explained much of the gap, but not all of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074920"/>
            <a:ext cx="5486400" cy="7132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06F78"/>
                </a:solidFill>
                <a:latin typeface="Aptos"/>
              </a:rPr>
              <a:t>Interpretation: output compatibility is part of real end-to-end robustness, but it must be analyzed separately from mathematical reasoning quality.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MathRepair | Supervisor Progress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Completed Research and Engineering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The repository contains an executable prototype, tests, datasets, reports, and defense materials.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673352"/>
            <a:ext cx="384048" cy="384048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7048" y="1618488"/>
            <a:ext cx="406908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3248"/>
                </a:solidFill>
                <a:latin typeface="Aptos"/>
              </a:rPr>
              <a:t>Verifier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965960"/>
            <a:ext cx="406908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Symbolic equation equivalence, identities, arithmetic and sign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1673352"/>
            <a:ext cx="384048" cy="384048"/>
          </a:xfrm>
          <a:prstGeom prst="ellipse">
            <a:avLst/>
          </a:prstGeom>
          <a:solidFill>
            <a:srgbClr val="C6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59168" y="1618488"/>
            <a:ext cx="406908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3248"/>
                </a:solidFill>
                <a:latin typeface="Aptos"/>
              </a:rPr>
              <a:t>Repair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1965960"/>
            <a:ext cx="406908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Rule-based policy, local suffix regeneration, verified acceptance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62072"/>
            <a:ext cx="5166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3118104"/>
            <a:ext cx="384048" cy="384048"/>
          </a:xfrm>
          <a:prstGeom prst="ellipse">
            <a:avLst/>
          </a:prstGeom>
          <a:solidFill>
            <a:srgbClr val="B6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27048" y="3063240"/>
            <a:ext cx="406908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3248"/>
                </a:solidFill>
                <a:latin typeface="Aptos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410712"/>
            <a:ext cx="406908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Stress, held-out, expanded, matched-budget, and repeated-seed studies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62072"/>
            <a:ext cx="5166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3118104"/>
            <a:ext cx="384048" cy="384048"/>
          </a:xfrm>
          <a:prstGeom prst="ellipse">
            <a:avLst/>
          </a:prstGeom>
          <a:solidFill>
            <a:srgbClr val="17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9168" y="3063240"/>
            <a:ext cx="406908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3248"/>
                </a:solidFill>
                <a:latin typeface="Aptos"/>
              </a:rPr>
              <a:t>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410712"/>
            <a:ext cx="406908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3B/7B comparison, parser normalization, output-contract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06824"/>
            <a:ext cx="5166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4562856"/>
            <a:ext cx="384048" cy="384048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27048" y="4507992"/>
            <a:ext cx="406908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3248"/>
                </a:solidFill>
                <a:latin typeface="Aptos"/>
              </a:rPr>
              <a:t>Graph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855464"/>
            <a:ext cx="406908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Dependency graph, affected descendants, adaptive allocation, web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06824"/>
            <a:ext cx="5166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92240" y="4562856"/>
            <a:ext cx="384048" cy="384048"/>
          </a:xfrm>
          <a:prstGeom prst="ellipse">
            <a:avLst/>
          </a:prstGeom>
          <a:solidFill>
            <a:srgbClr val="C6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168" y="4507992"/>
            <a:ext cx="406908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73248"/>
                </a:solidFill>
                <a:latin typeface="Aptos"/>
              </a:rPr>
              <a:t>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855464"/>
            <a:ext cx="406908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Thesis chapter, defense brief, Q&amp;A, audit, GitHub repository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852160"/>
            <a:ext cx="1078992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87E8B"/>
                </a:solidFill>
                <a:latin typeface="Aptos"/>
              </a:rPr>
              <a:t>Repository: https://github.com/mwanajh/MathRepair_Project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MathRepair | Supervisor Progress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Alignment With 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The current milestone is a scoped pilot and proof-of-concept, not the complete proposal experiment.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54864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5029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87E8B"/>
                </a:solidFill>
                <a:latin typeface="Aptos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554480"/>
            <a:ext cx="2377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935"/>
                </a:solidFill>
                <a:latin typeface="Aptos"/>
              </a:rPr>
              <a:t>Graph localization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554480"/>
            <a:ext cx="16916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087E8B"/>
                </a:solidFill>
                <a:latin typeface="Aptos"/>
              </a:rPr>
              <a:t>Prototype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50591"/>
            <a:ext cx="54864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5029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67A22"/>
                </a:solidFill>
                <a:latin typeface="Aptos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633472"/>
            <a:ext cx="2377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935"/>
                </a:solidFill>
                <a:latin typeface="Aptos"/>
              </a:rPr>
              <a:t>Typed verifier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33472"/>
            <a:ext cx="16916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B67A22"/>
                </a:solidFill>
                <a:latin typeface="Aptos"/>
              </a:rPr>
              <a:t>Partial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29584"/>
            <a:ext cx="54864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712463"/>
            <a:ext cx="5029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87E8B"/>
                </a:solidFill>
                <a:latin typeface="Aptos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712463"/>
            <a:ext cx="2377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935"/>
                </a:solidFill>
                <a:latin typeface="Aptos"/>
              </a:rPr>
              <a:t>Targeted repair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712463"/>
            <a:ext cx="16916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087E8B"/>
                </a:solidFill>
                <a:latin typeface="Aptos"/>
              </a:rPr>
              <a:t>Pilot 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608576"/>
            <a:ext cx="54864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791456"/>
            <a:ext cx="50292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65042"/>
                </a:solidFill>
                <a:latin typeface="Aptos"/>
              </a:rPr>
              <a:t>RQ4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791456"/>
            <a:ext cx="2377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935"/>
                </a:solidFill>
                <a:latin typeface="Aptos"/>
              </a:rPr>
              <a:t>Adaptive 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791456"/>
            <a:ext cx="16916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C65042"/>
                </a:solidFill>
                <a:latin typeface="Aptos"/>
              </a:rPr>
              <a:t>Prototype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1371600"/>
            <a:ext cx="4892040" cy="4041648"/>
          </a:xfrm>
          <a:prstGeom prst="roundRect">
            <a:avLst>
              <a:gd name="adj" fmla="val 8000"/>
            </a:avLst>
          </a:prstGeom>
          <a:solidFill>
            <a:srgbClr val="F6F8F8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1664208"/>
            <a:ext cx="42976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Still required for full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121408"/>
            <a:ext cx="4114800" cy="3154680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Proposal-aligned benchmarks such as MATH-500 and OlympiadBench</a:t>
            </a:r>
          </a:p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All planned baselines and systematic component ablations</a:t>
            </a:r>
          </a:p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Learned verifier training and calibration analysis</a:t>
            </a:r>
          </a:p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Integrated adaptive-compute accuracy/cost evaluation</a:t>
            </a:r>
          </a:p>
          <a:p>
            <a:pPr>
              <a:spcAft>
                <a:spcPts val="300"/>
              </a:spcAft>
              <a:defRPr sz="1300">
                <a:solidFill>
                  <a:srgbClr val="1D2935"/>
                </a:solidFill>
                <a:latin typeface="Aptos"/>
              </a:defRPr>
            </a:pPr>
            <a:r>
              <a:rPr sz="1100"/>
              <a:t>• Broader mathematical domains and independent problem samples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MathRepair | Supervisor Progress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The claims are deliberately bounded to the data, models, and protocol actually evaluated.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F9E5E1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234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65042"/>
                </a:solidFill>
                <a:latin typeface="Aptos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545336"/>
            <a:ext cx="34290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D2935"/>
                </a:solidFill>
                <a:latin typeface="Aptos"/>
              </a:rPr>
              <a:t>One-variable symbolic algebra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89888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F9E5E1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1234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65042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545336"/>
            <a:ext cx="34290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D2935"/>
                </a:solidFill>
                <a:latin typeface="Aptos"/>
              </a:rPr>
              <a:t>Custom 36-problem expanded set; partly reuses an earlier held-out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07208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1234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65042"/>
                </a:solidFill>
                <a:latin typeface="Aptos"/>
              </a:rPr>
              <a:t>Trials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962656"/>
            <a:ext cx="34290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D2935"/>
                </a:solidFill>
                <a:latin typeface="Aptos"/>
              </a:rPr>
              <a:t>Three seeds in the primary expanded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07208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990088"/>
            <a:ext cx="1234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65042"/>
                </a:solidFill>
                <a:latin typeface="Aptos"/>
              </a:rPr>
              <a:t>Verifier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962656"/>
            <a:ext cx="34290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D2935"/>
                </a:solidFill>
                <a:latin typeface="Aptos"/>
              </a:rPr>
              <a:t>Symbolic and rule-based, not a trained calibrated verifier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24528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407408"/>
            <a:ext cx="1234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65042"/>
                </a:solidFill>
                <a:latin typeface="Aptos"/>
              </a:rPr>
              <a:t>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79976"/>
            <a:ext cx="34290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D2935"/>
                </a:solidFill>
                <a:latin typeface="Aptos"/>
              </a:rPr>
              <a:t>Demonstrated separately; primary model evaluation remains mainly linear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24528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F9E5E1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407408"/>
            <a:ext cx="1234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65042"/>
                </a:solidFill>
                <a:latin typeface="Aptos"/>
              </a:rPr>
              <a:t>Generalization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379976"/>
            <a:ext cx="3429000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D2935"/>
                </a:solidFill>
                <a:latin typeface="Aptos"/>
              </a:rPr>
              <a:t>Results do not establish performance on broad math benchmarks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06984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73248"/>
                </a:solidFill>
                <a:latin typeface="Aptos"/>
              </a:rPr>
              <a:t>These limitations define the next research phase; they do not invalidate the pilot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MathRepair | Supervisor Progress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87E8B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265176"/>
            <a:ext cx="105156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73248"/>
                </a:solidFill>
                <a:latin typeface="Aptos"/>
              </a:rPr>
              <a:t>Recommended Next Research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24128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06F78"/>
                </a:solidFill>
                <a:latin typeface="Aptos"/>
              </a:rPr>
              <a:t>Move from a working pilot toward the complete proposal through controlled expansion.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11045952" cy="18288"/>
          </a:xfrm>
          <a:prstGeom prst="rect">
            <a:avLst/>
          </a:prstGeom>
          <a:solidFill>
            <a:srgbClr val="D9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1993392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59436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87E8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87168"/>
            <a:ext cx="1645920" cy="56692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Freeze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37560"/>
            <a:ext cx="1627632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06F78"/>
                </a:solidFill>
                <a:latin typeface="Aptos"/>
              </a:rPr>
              <a:t>Graph schema, error taxonomy, allocation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1600200"/>
            <a:ext cx="1993392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27248" y="1828800"/>
            <a:ext cx="59436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87E8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487168"/>
            <a:ext cx="1645920" cy="56692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Expand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37560"/>
            <a:ext cx="1627632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06F78"/>
                </a:solidFill>
                <a:latin typeface="Aptos"/>
              </a:rPr>
              <a:t>Independent benchmarks and broader domains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66944" y="1600200"/>
            <a:ext cx="1993392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31536" y="1828800"/>
            <a:ext cx="59436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87E8B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1536" y="2487168"/>
            <a:ext cx="1645920" cy="56692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Add baselines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3337560"/>
            <a:ext cx="1627632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06F78"/>
                </a:solidFill>
                <a:latin typeface="Aptos"/>
              </a:rPr>
              <a:t>Planned methods and systematic ablations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71232" y="1600200"/>
            <a:ext cx="1993392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35824" y="1828800"/>
            <a:ext cx="59436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87E8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2487168"/>
            <a:ext cx="1645920" cy="56692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Train 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3337560"/>
            <a:ext cx="1627632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06F78"/>
                </a:solidFill>
                <a:latin typeface="Aptos"/>
              </a:rPr>
              <a:t>Localization, classification, and calibration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600200"/>
            <a:ext cx="1993392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40112" y="1828800"/>
            <a:ext cx="59436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87E8B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2487168"/>
            <a:ext cx="1645920" cy="566928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73248"/>
                </a:solidFill>
                <a:latin typeface="Aptos"/>
              </a:rPr>
              <a:t>Integrate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3337560"/>
            <a:ext cx="1627632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06F78"/>
                </a:solidFill>
                <a:latin typeface="Aptos"/>
              </a:rPr>
              <a:t>Accuracy-compute Pareto and cost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285232"/>
            <a:ext cx="8458200" cy="621792"/>
          </a:xfrm>
          <a:prstGeom prst="roundRect">
            <a:avLst>
              <a:gd name="adj" fmla="val 8000"/>
            </a:avLst>
          </a:prstGeom>
          <a:solidFill>
            <a:srgbClr val="DFF2F2"/>
          </a:solidFill>
          <a:ln w="1270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03120" y="5468112"/>
            <a:ext cx="80010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73248"/>
                </a:solidFill>
                <a:latin typeface="Aptos"/>
              </a:rPr>
              <a:t>Immediate priority: benchmark graph-based localization against a flat reasoning-chain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MathRepair | Supervisor Progress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06F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237744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A5DFD2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875520" cy="59436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What has been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148840"/>
            <a:ext cx="9692640" cy="2331720"/>
          </a:xfrm>
          <a:prstGeom prst="rect">
            <a:avLst/>
          </a:prstGeom>
          <a:noFill/>
        </p:spPr>
        <p:txBody>
          <a:bodyPr wrap="square" lIns="36576" tIns="18288" rIns="0" bIns="18288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1700"/>
              <a:t>• A functioning verifier-guided local repair pipeline.</a:t>
            </a:r>
          </a:p>
          <a:p>
            <a:pPr>
              <a:spcAft>
                <a:spcPts val="5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1700"/>
              <a:t>• A reasoning-graph proof-of-concept with affected-node tracing and allocation.</a:t>
            </a:r>
          </a:p>
          <a:p>
            <a:pPr>
              <a:spcAft>
                <a:spcPts val="5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1700"/>
              <a:t>• A reproducible matched-budget pilot where local repair reached 100.0% answer accuracy.</a:t>
            </a:r>
          </a:p>
          <a:p>
            <a:pPr>
              <a:spcAft>
                <a:spcPts val="5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1700"/>
              <a:t>• A controlled analysis showing that output-contract compatibility materially affects model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892040"/>
            <a:ext cx="10469880" cy="777240"/>
          </a:xfrm>
          <a:prstGeom prst="roundRect">
            <a:avLst>
              <a:gd name="adj" fmla="val 8000"/>
            </a:avLst>
          </a:prstGeom>
          <a:solidFill>
            <a:srgbClr val="087E8B"/>
          </a:solidFill>
          <a:ln w="12700">
            <a:solidFill>
              <a:srgbClr val="08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>
            <a:normAutofit/>
          </a:bodyPr>
          <a:lstStyle/>
          <a:p>
            <a:pPr algn="ctr">
              <a:spcAft>
                <a:spcPts val="3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5102352"/>
            <a:ext cx="9921240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The pilot supports continuing to the full proposal-scale evaluation; it does not claim that stage is already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72200"/>
            <a:ext cx="457200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BDCBD2"/>
                </a:solidFill>
                <a:latin typeface="Aptos"/>
              </a:rPr>
              <a:t>Questions and supervisor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172200"/>
            <a:ext cx="384048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norm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DCBD2"/>
                </a:solidFill>
                <a:latin typeface="Aptos"/>
              </a:rPr>
              <a:t>github.com/mwanajh/MathRepair_Project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1145</Words>
  <Application>Microsoft Office PowerPoint</Application>
  <PresentationFormat>Widescreen</PresentationFormat>
  <Paragraphs>235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Mwanajuma Shauri</cp:lastModifiedBy>
  <cp:revision>4</cp:revision>
  <dcterms:created xsi:type="dcterms:W3CDTF">2013-01-27T09:14:16Z</dcterms:created>
  <dcterms:modified xsi:type="dcterms:W3CDTF">2026-09-20T06:53:58Z</dcterms:modified>
  <cp:category/>
</cp:coreProperties>
</file>